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77" r:id="rId6"/>
    <p:sldId id="260" r:id="rId7"/>
    <p:sldId id="278" r:id="rId8"/>
    <p:sldId id="279" r:id="rId9"/>
    <p:sldId id="280" r:id="rId10"/>
    <p:sldId id="274" r:id="rId11"/>
    <p:sldId id="262" r:id="rId12"/>
    <p:sldId id="269" r:id="rId13"/>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Calibri Light" panose="020F0302020204030204" pitchFamily="34" charset="0"/>
      <p:regular r:id="rId19"/>
      <p:italic r:id="rId20"/>
    </p:embeddedFont>
    <p:embeddedFont>
      <p:font typeface="Cambria" panose="02040503050406030204" pitchFamily="18"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58C"/>
    <a:srgbClr val="1E56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3" autoAdjust="0"/>
    <p:restoredTop sz="72954" autoAdjust="0"/>
  </p:normalViewPr>
  <p:slideViewPr>
    <p:cSldViewPr>
      <p:cViewPr>
        <p:scale>
          <a:sx n="51" d="100"/>
          <a:sy n="51" d="100"/>
        </p:scale>
        <p:origin x="1392" y="392"/>
      </p:cViewPr>
      <p:guideLst>
        <p:guide orient="horz" pos="2184"/>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80" d="100"/>
        <a:sy n="80" d="100"/>
      </p:scale>
      <p:origin x="0" y="0"/>
    </p:cViewPr>
  </p:sorterViewPr>
  <p:notesViewPr>
    <p:cSldViewPr>
      <p:cViewPr varScale="1">
        <p:scale>
          <a:sx n="97" d="100"/>
          <a:sy n="97"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BB61-B4F3-49F3-8E3C-4B63BBA04250}" type="datetimeFigureOut">
              <a:rPr lang="en-US" smtClean="0"/>
              <a:t>5/15/26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55621-BB3A-4FD8-9F2D-99DAB64DC017}" type="slidenum">
              <a:rPr lang="en-US" smtClean="0"/>
              <a:t>‹#›</a:t>
            </a:fld>
            <a:endParaRPr lang="en-US"/>
          </a:p>
        </p:txBody>
      </p:sp>
    </p:spTree>
    <p:extLst>
      <p:ext uri="{BB962C8B-B14F-4D97-AF65-F5344CB8AC3E}">
        <p14:creationId xmlns:p14="http://schemas.microsoft.com/office/powerpoint/2010/main" val="301663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000" dirty="0">
                <a:latin typeface="Cambria" panose="02040503050406030204" pitchFamily="18" charset="0"/>
                <a:ea typeface="Cambria" panose="02040503050406030204" pitchFamily="18" charset="0"/>
              </a:rPr>
              <a:t>Lời đầu tiên, em xin gửi lời chào trân trọng tới quý thầy cô cùng toàn thể các bạn sinh viên có mặt trong buổi báo cáo tốt nghiệp ngày hôm nay</a:t>
            </a:r>
            <a:br>
              <a:rPr lang="vi-VN" sz="2000" dirty="0">
                <a:latin typeface="Cambria" panose="02040503050406030204" pitchFamily="18" charset="0"/>
                <a:ea typeface="Cambria" panose="02040503050406030204" pitchFamily="18" charset="0"/>
              </a:rPr>
            </a:br>
            <a:r>
              <a:rPr lang="vi-VN" sz="2000" dirty="0">
                <a:latin typeface="Cambria" panose="02040503050406030204" pitchFamily="18" charset="0"/>
                <a:ea typeface="Cambria" panose="02040503050406030204" pitchFamily="18" charset="0"/>
              </a:rPr>
              <a:t>Em tên là </a:t>
            </a:r>
            <a:r>
              <a:rPr lang="en-US" sz="2000" dirty="0" err="1">
                <a:latin typeface="Cambria" panose="02040503050406030204" pitchFamily="18" charset="0"/>
                <a:ea typeface="Cambria" panose="02040503050406030204" pitchFamily="18" charset="0"/>
              </a:rPr>
              <a:t>Nguyễn</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Công</a:t>
            </a:r>
            <a:r>
              <a:rPr lang="en-US" sz="2000" dirty="0">
                <a:latin typeface="Cambria" panose="02040503050406030204" pitchFamily="18" charset="0"/>
                <a:ea typeface="Cambria" panose="02040503050406030204" pitchFamily="18" charset="0"/>
              </a:rPr>
              <a:t> An</a:t>
            </a:r>
            <a:r>
              <a:rPr lang="vi-VN" sz="2000" dirty="0">
                <a:latin typeface="Cambria" panose="02040503050406030204" pitchFamily="18" charset="0"/>
                <a:ea typeface="Cambria" panose="02040503050406030204" pitchFamily="18" charset="0"/>
              </a:rPr>
              <a:t>, sinh viên </a:t>
            </a:r>
            <a:r>
              <a:rPr lang="en-US" sz="2000" dirty="0" err="1">
                <a:latin typeface="Cambria" panose="02040503050406030204" pitchFamily="18" charset="0"/>
                <a:ea typeface="Cambria" panose="02040503050406030204" pitchFamily="18" charset="0"/>
              </a:rPr>
              <a:t>lớp</a:t>
            </a:r>
            <a:r>
              <a:rPr lang="en-US" sz="2000" dirty="0">
                <a:latin typeface="Cambria" panose="02040503050406030204" pitchFamily="18" charset="0"/>
                <a:ea typeface="Cambria" panose="02040503050406030204" pitchFamily="18" charset="0"/>
              </a:rPr>
              <a:t> KHMT02 – K17</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2000" kern="1200" dirty="0">
                <a:solidFill>
                  <a:schemeClr val="tx1"/>
                </a:solidFill>
                <a:effectLst/>
                <a:latin typeface="Cambria" panose="02040503050406030204" pitchFamily="18" charset="0"/>
                <a:ea typeface="Cambria" panose="02040503050406030204" pitchFamily="18" charset="0"/>
                <a:cs typeface="+mn-cs"/>
              </a:rPr>
              <a:t>Hôm nay em xin được trình bày đồ án tốt nghiệp với đề tài: ', dưới sự hướng dẫn của Thầy</a:t>
            </a:r>
          </a:p>
        </p:txBody>
      </p:sp>
      <p:sp>
        <p:nvSpPr>
          <p:cNvPr id="4" name="Slide Number Placeholder 3"/>
          <p:cNvSpPr>
            <a:spLocks noGrp="1"/>
          </p:cNvSpPr>
          <p:nvPr>
            <p:ph type="sldNum" sz="quarter" idx="5"/>
          </p:nvPr>
        </p:nvSpPr>
        <p:spPr/>
        <p:txBody>
          <a:bodyPr/>
          <a:lstStyle/>
          <a:p>
            <a:fld id="{7C655621-BB3A-4FD8-9F2D-99DAB64DC017}" type="slidenum">
              <a:rPr lang="en-US" smtClean="0"/>
              <a:t>1</a:t>
            </a:fld>
            <a:endParaRPr lang="en-US"/>
          </a:p>
        </p:txBody>
      </p:sp>
    </p:spTree>
    <p:extLst>
      <p:ext uri="{BB962C8B-B14F-4D97-AF65-F5344CB8AC3E}">
        <p14:creationId xmlns:p14="http://schemas.microsoft.com/office/powerpoint/2010/main" val="654010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i="1" kern="1200" dirty="0">
                <a:solidFill>
                  <a:schemeClr val="tx1"/>
                </a:solidFill>
                <a:effectLst/>
                <a:latin typeface="+mn-lt"/>
                <a:ea typeface="+mn-ea"/>
                <a:cs typeface="+mn-cs"/>
              </a:rPr>
              <a:t>"Bài thuyết trình hôm nay của em gồm bốn phần chính:</a:t>
            </a:r>
            <a:endParaRPr lang="vi-VN"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1 – Tổng quan đề tài.</a:t>
            </a:r>
          </a:p>
          <a:p>
            <a:r>
              <a:rPr lang="vi-VN" sz="1200" kern="1200" dirty="0">
                <a:solidFill>
                  <a:schemeClr val="tx1"/>
                </a:solidFill>
                <a:effectLst/>
                <a:latin typeface="+mn-lt"/>
                <a:ea typeface="+mn-ea"/>
                <a:cs typeface="+mn-cs"/>
              </a:rPr>
              <a:t>Phần 2 – Thực nghiệm</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3 – Kết quả đạt được </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4 –  hướng phát triển trong tương lai.</a:t>
            </a:r>
          </a:p>
          <a:p>
            <a:r>
              <a:rPr lang="vi-VN" sz="1200" kern="1200" dirty="0">
                <a:solidFill>
                  <a:schemeClr val="tx1"/>
                </a:solidFill>
                <a:effectLst/>
                <a:latin typeface="+mn-lt"/>
                <a:ea typeface="+mn-ea"/>
                <a:cs typeface="+mn-cs"/>
              </a:rPr>
              <a:t>Bây giờ em xin bắt đầu từ phần đầu tiên."*</a:t>
            </a:r>
          </a:p>
        </p:txBody>
      </p:sp>
      <p:sp>
        <p:nvSpPr>
          <p:cNvPr id="4" name="Slide Number Placeholder 3"/>
          <p:cNvSpPr>
            <a:spLocks noGrp="1"/>
          </p:cNvSpPr>
          <p:nvPr>
            <p:ph type="sldNum" sz="quarter" idx="5"/>
          </p:nvPr>
        </p:nvSpPr>
        <p:spPr/>
        <p:txBody>
          <a:bodyPr/>
          <a:lstStyle/>
          <a:p>
            <a:fld id="{7C655621-BB3A-4FD8-9F2D-99DAB64DC017}" type="slidenum">
              <a:rPr lang="en-US" smtClean="0"/>
              <a:t>2</a:t>
            </a:fld>
            <a:endParaRPr lang="en-US"/>
          </a:p>
        </p:txBody>
      </p:sp>
    </p:spTree>
    <p:extLst>
      <p:ext uri="{BB962C8B-B14F-4D97-AF65-F5344CB8AC3E}">
        <p14:creationId xmlns:p14="http://schemas.microsoft.com/office/powerpoint/2010/main" val="3532516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000000"/>
                </a:solidFill>
                <a:effectLst/>
                <a:latin typeface="Times New Roman" panose="02020603050405020304" pitchFamily="18" charset="0"/>
                <a:cs typeface="Times New Roman" panose="02020603050405020304" pitchFamily="18" charset="0"/>
              </a:rPr>
              <a:t>Từ thực tế đó, em nhận thấy vẫn còn cơ hội để xây dựng một nền tảng mới giúp </a:t>
            </a:r>
            <a:r>
              <a:rPr lang="vi-VN" b="1" i="0" dirty="0">
                <a:solidFill>
                  <a:srgbClr val="000000"/>
                </a:solidFill>
                <a:effectLst/>
                <a:latin typeface="Times New Roman" panose="02020603050405020304" pitchFamily="18" charset="0"/>
                <a:cs typeface="Times New Roman" panose="02020603050405020304" pitchFamily="18" charset="0"/>
              </a:rPr>
              <a:t>kết nối trực tiếp hơn giữa nhà hàng, khách hàng và tài xế</a:t>
            </a:r>
            <a:r>
              <a:rPr lang="vi-VN" b="0" i="0" dirty="0">
                <a:solidFill>
                  <a:srgbClr val="000000"/>
                </a:solidFill>
                <a:effectLst/>
                <a:latin typeface="Times New Roman" panose="02020603050405020304" pitchFamily="18" charset="0"/>
                <a:cs typeface="Times New Roman" panose="02020603050405020304" pitchFamily="18" charset="0"/>
              </a:rPr>
              <a:t>, giảm sự phụ thuộc vào trung gian và tối ưu chi phí vận hành.</a:t>
            </a:r>
          </a:p>
          <a:p>
            <a:pPr algn="l"/>
            <a:r>
              <a:rPr lang="vi-VN" b="0" i="0" dirty="0">
                <a:solidFill>
                  <a:srgbClr val="000000"/>
                </a:solidFill>
                <a:effectLst/>
                <a:latin typeface="Times New Roman" panose="02020603050405020304" pitchFamily="18" charset="0"/>
                <a:cs typeface="Times New Roman" panose="02020603050405020304" pitchFamily="18" charset="0"/>
              </a:rPr>
              <a:t>Đó cũng chính là lý do em lựa chọn đề tài này — vừa mang ý nghĩa thực tiễn, vừa là cơ hội để em áp dụng và tích hợp nhiều công nghệ hiện đại vào một sản phẩm hoàn chỉnh.</a:t>
            </a:r>
          </a:p>
          <a:p>
            <a:pPr algn="l"/>
            <a:r>
              <a:rPr lang="en-US" b="1" i="0" dirty="0" err="1">
                <a:solidFill>
                  <a:srgbClr val="000000"/>
                </a:solidFill>
                <a:effectLst/>
                <a:latin typeface="Times New Roman" panose="02020603050405020304" pitchFamily="18" charset="0"/>
                <a:cs typeface="Times New Roman" panose="02020603050405020304" pitchFamily="18" charset="0"/>
              </a:rPr>
              <a:t>Về</a:t>
            </a:r>
            <a:r>
              <a:rPr lang="en-US" b="1" i="0" dirty="0">
                <a:solidFill>
                  <a:srgbClr val="000000"/>
                </a:solidFill>
                <a:effectLst/>
                <a:latin typeface="Times New Roman" panose="02020603050405020304" pitchFamily="18" charset="0"/>
                <a:cs typeface="Times New Roman" panose="02020603050405020304" pitchFamily="18" charset="0"/>
              </a:rPr>
              <a:t> </a:t>
            </a:r>
            <a:r>
              <a:rPr lang="en-US" b="1" i="0" dirty="0" err="1">
                <a:solidFill>
                  <a:srgbClr val="000000"/>
                </a:solidFill>
                <a:effectLst/>
                <a:latin typeface="Times New Roman" panose="02020603050405020304" pitchFamily="18" charset="0"/>
                <a:cs typeface="Times New Roman" panose="02020603050405020304" pitchFamily="18" charset="0"/>
              </a:rPr>
              <a:t>mục</a:t>
            </a:r>
            <a:r>
              <a:rPr lang="en-US" b="1" i="0" dirty="0">
                <a:solidFill>
                  <a:srgbClr val="000000"/>
                </a:solidFill>
                <a:effectLst/>
                <a:latin typeface="Times New Roman" panose="02020603050405020304" pitchFamily="18" charset="0"/>
                <a:cs typeface="Times New Roman" panose="02020603050405020304" pitchFamily="18" charset="0"/>
              </a:rPr>
              <a:t> </a:t>
            </a:r>
            <a:r>
              <a:rPr lang="en-US" b="1" i="0" dirty="0" err="1">
                <a:solidFill>
                  <a:srgbClr val="000000"/>
                </a:solidFill>
                <a:effectLst/>
                <a:latin typeface="Times New Roman" panose="02020603050405020304" pitchFamily="18" charset="0"/>
                <a:cs typeface="Times New Roman" panose="02020603050405020304" pitchFamily="18" charset="0"/>
              </a:rPr>
              <a:t>tiêu</a:t>
            </a:r>
            <a:r>
              <a:rPr lang="en-US" b="1" i="0" dirty="0">
                <a:solidFill>
                  <a:srgbClr val="000000"/>
                </a:solidFill>
                <a:effectLst/>
                <a:latin typeface="Times New Roman" panose="02020603050405020304" pitchFamily="18" charset="0"/>
                <a:cs typeface="Times New Roman" panose="02020603050405020304" pitchFamily="18" charset="0"/>
              </a:rPr>
              <a:t> </a:t>
            </a:r>
            <a:r>
              <a:rPr lang="en-US" b="1" i="0" dirty="0" err="1">
                <a:solidFill>
                  <a:srgbClr val="000000"/>
                </a:solidFill>
                <a:effectLst/>
                <a:latin typeface="Times New Roman" panose="02020603050405020304" pitchFamily="18" charset="0"/>
                <a:cs typeface="Times New Roman" panose="02020603050405020304" pitchFamily="18" charset="0"/>
              </a:rPr>
              <a:t>của</a:t>
            </a:r>
            <a:r>
              <a:rPr lang="en-US" b="1" i="0" dirty="0">
                <a:solidFill>
                  <a:srgbClr val="000000"/>
                </a:solidFill>
                <a:effectLst/>
                <a:latin typeface="Times New Roman" panose="02020603050405020304" pitchFamily="18" charset="0"/>
                <a:cs typeface="Times New Roman" panose="02020603050405020304" pitchFamily="18" charset="0"/>
              </a:rPr>
              <a:t> </a:t>
            </a:r>
            <a:r>
              <a:rPr lang="en-US" b="1" i="0" dirty="0" err="1">
                <a:solidFill>
                  <a:srgbClr val="000000"/>
                </a:solidFill>
                <a:effectLst/>
                <a:latin typeface="Times New Roman" panose="02020603050405020304" pitchFamily="18" charset="0"/>
                <a:cs typeface="Times New Roman" panose="02020603050405020304" pitchFamily="18" charset="0"/>
              </a:rPr>
              <a:t>đề</a:t>
            </a:r>
            <a:r>
              <a:rPr lang="en-US" b="1" i="0" dirty="0">
                <a:solidFill>
                  <a:srgbClr val="000000"/>
                </a:solidFill>
                <a:effectLst/>
                <a:latin typeface="Times New Roman" panose="02020603050405020304" pitchFamily="18" charset="0"/>
                <a:cs typeface="Times New Roman" panose="02020603050405020304" pitchFamily="18" charset="0"/>
              </a:rPr>
              <a:t> </a:t>
            </a:r>
            <a:r>
              <a:rPr lang="en-US" b="1" i="0" dirty="0" err="1">
                <a:solidFill>
                  <a:srgbClr val="000000"/>
                </a:solidFill>
                <a:effectLst/>
                <a:latin typeface="Times New Roman" panose="02020603050405020304" pitchFamily="18" charset="0"/>
                <a:cs typeface="Times New Roman" panose="02020603050405020304" pitchFamily="18" charset="0"/>
              </a:rPr>
              <a:t>tài</a:t>
            </a:r>
            <a:endParaRPr lang="en-US" b="0" i="0" dirty="0">
              <a:solidFill>
                <a:srgbClr val="000000"/>
              </a:solidFill>
              <a:effectLst/>
              <a:latin typeface="Times New Roman" panose="02020603050405020304" pitchFamily="18" charset="0"/>
              <a:cs typeface="Times New Roman" panose="02020603050405020304" pitchFamily="18" charset="0"/>
            </a:endParaRPr>
          </a:p>
          <a:p>
            <a:pPr algn="l"/>
            <a:r>
              <a:rPr lang="en-US" b="0" i="0" dirty="0" err="1">
                <a:solidFill>
                  <a:srgbClr val="000000"/>
                </a:solidFill>
                <a:effectLst/>
                <a:latin typeface="Times New Roman" panose="02020603050405020304" pitchFamily="18" charset="0"/>
                <a:cs typeface="Times New Roman" panose="02020603050405020304" pitchFamily="18" charset="0"/>
              </a:rPr>
              <a:t>Trong</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đề</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tài</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này</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em</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đặt</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ra</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bốn</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mục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tiêu</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chính</a:t>
            </a:r>
            <a:r>
              <a:rPr lang="en-US" b="0" i="0" dirty="0">
                <a:solidFill>
                  <a:srgbClr val="000000"/>
                </a:solidFill>
                <a:effectLst/>
                <a:latin typeface="Times New Roman" panose="02020603050405020304" pitchFamily="18" charset="0"/>
                <a:cs typeface="Times New Roman" panose="02020603050405020304" pitchFamily="18" charset="0"/>
              </a:rPr>
              <a:t>:</a:t>
            </a:r>
          </a:p>
          <a:p>
            <a:endParaRPr lang="en-US" sz="1200" dirty="0">
              <a:latin typeface="Times New Roman" panose="02020603050405020304" pitchFamily="18" charset="0"/>
              <a:ea typeface="Cambria" panose="02040503050406030204" pitchFamily="18" charset="0"/>
              <a:cs typeface="Times New Roman" panose="02020603050405020304" pitchFamily="18" charset="0"/>
            </a:endParaRPr>
          </a:p>
          <a:p>
            <a:endParaRPr lang="vi-V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3</a:t>
            </a:fld>
            <a:endParaRPr lang="en-US"/>
          </a:p>
        </p:txBody>
      </p:sp>
    </p:spTree>
    <p:extLst>
      <p:ext uri="{BB962C8B-B14F-4D97-AF65-F5344CB8AC3E}">
        <p14:creationId xmlns:p14="http://schemas.microsoft.com/office/powerpoint/2010/main" val="4116366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8000" b="1" i="0" dirty="0">
                <a:solidFill>
                  <a:srgbClr val="616161"/>
                </a:solidFill>
                <a:effectLst/>
                <a:latin typeface="+mj-lt"/>
              </a:rPr>
              <a:t>Flutter/Dart</a:t>
            </a:r>
            <a:r>
              <a:rPr lang="vi-VN" sz="8000" b="0" i="0" dirty="0">
                <a:solidFill>
                  <a:srgbClr val="616161"/>
                </a:solidFill>
                <a:effectLst/>
                <a:latin typeface="+mj-lt"/>
              </a:rPr>
              <a:t> được chọn cho frontend vì Flutter cho phép viết một lần, biên dịch ra ứng dụng native cho cả iOS lẫn Android. So với React Native thì Flutter hiệu năng cao hơn và giao diện nhất quán hơn giữa hai nền tảng. Đây cũng là framework Google duy trì nên hệ sinh thái rất mạnh.*</a:t>
            </a:r>
          </a:p>
          <a:p>
            <a:pPr algn="l"/>
            <a:r>
              <a:rPr lang="vi-VN" sz="8000" b="1" i="0" dirty="0">
                <a:solidFill>
                  <a:srgbClr val="616161"/>
                </a:solidFill>
                <a:effectLst/>
                <a:latin typeface="+mj-lt"/>
              </a:rPr>
              <a:t>Node.js + Express.js</a:t>
            </a:r>
            <a:r>
              <a:rPr lang="vi-VN" sz="8000" b="0" i="0" dirty="0">
                <a:solidFill>
                  <a:srgbClr val="616161"/>
                </a:solidFill>
                <a:effectLst/>
                <a:latin typeface="+mj-lt"/>
              </a:rPr>
              <a:t> cho backend vì Node.js có kiến trúc không phải chờ xong một request mới xử lý request tiếp theo. Điều này đặc biệt phù hợp với hệ thống giao hàng, vì lúc cao điểm có thể có hàng trăm đơn hàng được cập nhật trạng thái đồng thời.*</a:t>
            </a:r>
          </a:p>
          <a:p>
            <a:r>
              <a:rPr lang="en-US" sz="9600" b="1" dirty="0">
                <a:latin typeface="+mj-lt"/>
              </a:rPr>
              <a:t>Prisma ORM </a:t>
            </a:r>
            <a:r>
              <a:rPr lang="en-US" sz="9600" dirty="0" err="1">
                <a:latin typeface="+mj-lt"/>
              </a:rPr>
              <a:t>giúp</a:t>
            </a:r>
            <a:r>
              <a:rPr lang="en-US" sz="9600" dirty="0">
                <a:latin typeface="+mj-lt"/>
              </a:rPr>
              <a:t> </a:t>
            </a:r>
            <a:r>
              <a:rPr lang="en-US" sz="9600" dirty="0" err="1">
                <a:latin typeface="+mj-lt"/>
              </a:rPr>
              <a:t>em</a:t>
            </a:r>
            <a:r>
              <a:rPr lang="en-US" sz="9600" dirty="0">
                <a:latin typeface="+mj-lt"/>
              </a:rPr>
              <a:t> </a:t>
            </a:r>
            <a:r>
              <a:rPr lang="en-US" sz="9600" dirty="0" err="1">
                <a:latin typeface="+mj-lt"/>
              </a:rPr>
              <a:t>làm</a:t>
            </a:r>
            <a:r>
              <a:rPr lang="en-US" sz="9600" dirty="0">
                <a:latin typeface="+mj-lt"/>
              </a:rPr>
              <a:t> </a:t>
            </a:r>
            <a:r>
              <a:rPr lang="en-US" sz="9600" dirty="0" err="1">
                <a:latin typeface="+mj-lt"/>
              </a:rPr>
              <a:t>việc</a:t>
            </a:r>
            <a:r>
              <a:rPr lang="en-US" sz="9600" dirty="0">
                <a:latin typeface="+mj-lt"/>
              </a:rPr>
              <a:t> </a:t>
            </a:r>
            <a:r>
              <a:rPr lang="en-US" sz="9600" dirty="0" err="1">
                <a:latin typeface="+mj-lt"/>
              </a:rPr>
              <a:t>với</a:t>
            </a:r>
            <a:r>
              <a:rPr lang="en-US" sz="9600" dirty="0">
                <a:latin typeface="+mj-lt"/>
              </a:rPr>
              <a:t> database </a:t>
            </a:r>
            <a:r>
              <a:rPr lang="en-US" sz="9600" dirty="0" err="1">
                <a:latin typeface="+mj-lt"/>
              </a:rPr>
              <a:t>bằng</a:t>
            </a:r>
            <a:r>
              <a:rPr lang="en-US" sz="9600" dirty="0">
                <a:latin typeface="+mj-lt"/>
              </a:rPr>
              <a:t> code </a:t>
            </a:r>
            <a:r>
              <a:rPr lang="en-US" sz="9600" dirty="0" err="1">
                <a:latin typeface="+mj-lt"/>
              </a:rPr>
              <a:t>thay</a:t>
            </a:r>
            <a:r>
              <a:rPr lang="en-US" sz="9600" dirty="0">
                <a:latin typeface="+mj-lt"/>
              </a:rPr>
              <a:t> </a:t>
            </a:r>
            <a:r>
              <a:rPr lang="en-US" sz="9600" dirty="0" err="1">
                <a:latin typeface="+mj-lt"/>
              </a:rPr>
              <a:t>vì</a:t>
            </a:r>
            <a:r>
              <a:rPr lang="en-US" sz="9600" dirty="0">
                <a:latin typeface="+mj-lt"/>
              </a:rPr>
              <a:t> </a:t>
            </a:r>
            <a:r>
              <a:rPr lang="en-US" sz="9600" dirty="0" err="1">
                <a:latin typeface="+mj-lt"/>
              </a:rPr>
              <a:t>viết</a:t>
            </a:r>
            <a:r>
              <a:rPr lang="en-US" sz="9600" dirty="0">
                <a:latin typeface="+mj-lt"/>
              </a:rPr>
              <a:t> SQL </a:t>
            </a:r>
            <a:r>
              <a:rPr lang="en-US" sz="9600" dirty="0" err="1">
                <a:latin typeface="+mj-lt"/>
              </a:rPr>
              <a:t>thủ</a:t>
            </a:r>
            <a:r>
              <a:rPr lang="en-US" sz="9600" dirty="0">
                <a:latin typeface="+mj-lt"/>
              </a:rPr>
              <a:t> </a:t>
            </a:r>
            <a:r>
              <a:rPr lang="en-US" sz="9600" dirty="0" err="1">
                <a:latin typeface="+mj-lt"/>
              </a:rPr>
              <a:t>công</a:t>
            </a:r>
            <a:r>
              <a:rPr lang="en-US" sz="9600" dirty="0">
                <a:latin typeface="+mj-lt"/>
              </a:rPr>
              <a:t>, </a:t>
            </a:r>
            <a:r>
              <a:rPr lang="en-US" sz="9600" dirty="0" err="1">
                <a:latin typeface="+mj-lt"/>
              </a:rPr>
              <a:t>giúp</a:t>
            </a:r>
            <a:r>
              <a:rPr lang="en-US" sz="9600" dirty="0">
                <a:latin typeface="+mj-lt"/>
              </a:rPr>
              <a:t> </a:t>
            </a:r>
            <a:r>
              <a:rPr lang="en-US" sz="9600" dirty="0" err="1">
                <a:latin typeface="+mj-lt"/>
              </a:rPr>
              <a:t>phát</a:t>
            </a:r>
            <a:r>
              <a:rPr lang="en-US" sz="9600" dirty="0">
                <a:latin typeface="+mj-lt"/>
              </a:rPr>
              <a:t> </a:t>
            </a:r>
            <a:r>
              <a:rPr lang="en-US" sz="9600" dirty="0" err="1">
                <a:latin typeface="+mj-lt"/>
              </a:rPr>
              <a:t>hiện</a:t>
            </a:r>
            <a:r>
              <a:rPr lang="en-US" sz="9600" dirty="0">
                <a:latin typeface="+mj-lt"/>
              </a:rPr>
              <a:t> </a:t>
            </a:r>
            <a:r>
              <a:rPr lang="en-US" sz="9600" dirty="0" err="1">
                <a:latin typeface="+mj-lt"/>
              </a:rPr>
              <a:t>lỗi</a:t>
            </a:r>
            <a:r>
              <a:rPr lang="en-US" sz="9600" dirty="0">
                <a:latin typeface="+mj-lt"/>
              </a:rPr>
              <a:t> </a:t>
            </a:r>
            <a:r>
              <a:rPr lang="en-US" sz="9600" dirty="0" err="1">
                <a:latin typeface="+mj-lt"/>
              </a:rPr>
              <a:t>sớm</a:t>
            </a:r>
            <a:r>
              <a:rPr lang="en-US" sz="9600" dirty="0">
                <a:latin typeface="+mj-lt"/>
              </a:rPr>
              <a:t> </a:t>
            </a:r>
            <a:r>
              <a:rPr lang="en-US" sz="9600" dirty="0" err="1">
                <a:latin typeface="+mj-lt"/>
              </a:rPr>
              <a:t>và</a:t>
            </a:r>
            <a:r>
              <a:rPr lang="en-US" sz="9600" dirty="0">
                <a:latin typeface="+mj-lt"/>
              </a:rPr>
              <a:t> </a:t>
            </a:r>
            <a:r>
              <a:rPr lang="en-US" sz="9600" dirty="0" err="1">
                <a:latin typeface="+mj-lt"/>
              </a:rPr>
              <a:t>tự</a:t>
            </a:r>
            <a:r>
              <a:rPr lang="en-US" sz="9600" dirty="0">
                <a:latin typeface="+mj-lt"/>
              </a:rPr>
              <a:t> </a:t>
            </a:r>
            <a:r>
              <a:rPr lang="en-US" sz="9600" dirty="0" err="1">
                <a:latin typeface="+mj-lt"/>
              </a:rPr>
              <a:t>động</a:t>
            </a:r>
            <a:r>
              <a:rPr lang="en-US" sz="9600" dirty="0">
                <a:latin typeface="+mj-lt"/>
              </a:rPr>
              <a:t> </a:t>
            </a:r>
            <a:r>
              <a:rPr lang="en-US" sz="9600" dirty="0" err="1">
                <a:latin typeface="+mj-lt"/>
              </a:rPr>
              <a:t>cập</a:t>
            </a:r>
            <a:r>
              <a:rPr lang="en-US" sz="9600" dirty="0">
                <a:latin typeface="+mj-lt"/>
              </a:rPr>
              <a:t> </a:t>
            </a:r>
            <a:r>
              <a:rPr lang="en-US" sz="9600" dirty="0" err="1">
                <a:latin typeface="+mj-lt"/>
              </a:rPr>
              <a:t>nhật</a:t>
            </a:r>
            <a:r>
              <a:rPr lang="en-US" sz="9600" dirty="0">
                <a:latin typeface="+mj-lt"/>
              </a:rPr>
              <a:t> database </a:t>
            </a:r>
            <a:r>
              <a:rPr lang="en-US" sz="9600" dirty="0" err="1">
                <a:latin typeface="+mj-lt"/>
              </a:rPr>
              <a:t>khi</a:t>
            </a:r>
            <a:r>
              <a:rPr lang="en-US" sz="9600" dirty="0">
                <a:latin typeface="+mj-lt"/>
              </a:rPr>
              <a:t> </a:t>
            </a:r>
            <a:r>
              <a:rPr lang="en-US" sz="9600" dirty="0" err="1">
                <a:latin typeface="+mj-lt"/>
              </a:rPr>
              <a:t>cấu</a:t>
            </a:r>
            <a:r>
              <a:rPr lang="en-US" sz="9600" dirty="0">
                <a:latin typeface="+mj-lt"/>
              </a:rPr>
              <a:t> </a:t>
            </a:r>
            <a:r>
              <a:rPr lang="en-US" sz="9600" dirty="0" err="1">
                <a:latin typeface="+mj-lt"/>
              </a:rPr>
              <a:t>trúc</a:t>
            </a:r>
            <a:r>
              <a:rPr lang="en-US" sz="9600" dirty="0">
                <a:latin typeface="+mj-lt"/>
              </a:rPr>
              <a:t> </a:t>
            </a:r>
            <a:r>
              <a:rPr lang="en-US" sz="9600" dirty="0" err="1">
                <a:latin typeface="+mj-lt"/>
              </a:rPr>
              <a:t>dữ</a:t>
            </a:r>
            <a:r>
              <a:rPr lang="en-US" sz="9600" dirty="0">
                <a:latin typeface="+mj-lt"/>
              </a:rPr>
              <a:t> </a:t>
            </a:r>
            <a:r>
              <a:rPr lang="en-US" sz="9600" dirty="0" err="1">
                <a:latin typeface="+mj-lt"/>
              </a:rPr>
              <a:t>liệu</a:t>
            </a:r>
            <a:r>
              <a:rPr lang="en-US" sz="9600" dirty="0">
                <a:latin typeface="+mj-lt"/>
              </a:rPr>
              <a:t> </a:t>
            </a:r>
            <a:r>
              <a:rPr lang="en-US" sz="9600" dirty="0" err="1">
                <a:latin typeface="+mj-lt"/>
              </a:rPr>
              <a:t>thay</a:t>
            </a:r>
            <a:r>
              <a:rPr lang="en-US" sz="9600" dirty="0">
                <a:latin typeface="+mj-lt"/>
              </a:rPr>
              <a:t> </a:t>
            </a:r>
            <a:r>
              <a:rPr lang="en-US" sz="9600" dirty="0" err="1">
                <a:latin typeface="+mj-lt"/>
              </a:rPr>
              <a:t>đổi</a:t>
            </a:r>
            <a:r>
              <a:rPr lang="en-US" sz="9600" dirty="0">
                <a:latin typeface="+mj-lt"/>
              </a:rPr>
              <a:t>.</a:t>
            </a:r>
          </a:p>
          <a:p>
            <a:pPr algn="l"/>
            <a:r>
              <a:rPr lang="vi-VN" sz="8000" b="1" i="0" dirty="0">
                <a:solidFill>
                  <a:srgbClr val="616161"/>
                </a:solidFill>
                <a:effectLst/>
                <a:latin typeface="+mj-lt"/>
              </a:rPr>
              <a:t>Supabase</a:t>
            </a:r>
            <a:r>
              <a:rPr lang="vi-VN" sz="8000" b="0" i="0" dirty="0">
                <a:solidFill>
                  <a:srgbClr val="616161"/>
                </a:solidFill>
                <a:effectLst/>
                <a:latin typeface="+mj-lt"/>
              </a:rPr>
              <a:t> em dùng cho hai mục đích: host PostgreSQL và quan trọng hơn là dùng </a:t>
            </a:r>
            <a:r>
              <a:rPr lang="vi-VN" sz="8000" b="1" i="0" dirty="0">
                <a:solidFill>
                  <a:srgbClr val="616161"/>
                </a:solidFill>
                <a:effectLst/>
                <a:latin typeface="+mj-lt"/>
              </a:rPr>
              <a:t>Supabase Realtime</a:t>
            </a:r>
            <a:r>
              <a:rPr lang="vi-VN" sz="8000" b="0" i="0" dirty="0">
                <a:solidFill>
                  <a:srgbClr val="616161"/>
                </a:solidFill>
                <a:effectLst/>
                <a:latin typeface="+mj-lt"/>
              </a:rPr>
              <a:t>. Khi tài xế cập nhật vị trí, dữ liệu được đẩy xuống app khách hàng ngay lập tức mà không cần app phải liên tục gửi request polling lên server — đây là điểm kỹ thuật cốt lõi của hệ thống.*</a:t>
            </a:r>
          </a:p>
          <a:p>
            <a:pPr algn="l"/>
            <a:r>
              <a:rPr lang="vi-VN" sz="8000" b="1" i="0" dirty="0">
                <a:solidFill>
                  <a:srgbClr val="616161"/>
                </a:solidFill>
                <a:effectLst/>
                <a:latin typeface="+mj-lt"/>
              </a:rPr>
              <a:t>Firebase Auth</a:t>
            </a:r>
            <a:r>
              <a:rPr lang="vi-VN" sz="8000" b="0" i="0" dirty="0">
                <a:solidFill>
                  <a:srgbClr val="616161"/>
                </a:solidFill>
                <a:effectLst/>
                <a:latin typeface="+mj-lt"/>
              </a:rPr>
              <a:t> xử lý xác thực người dùng hỗ trợ Email, Google Sign-In và OTP — giúp em không cần tự xây dựng hệ thống auth từ đầu mà vẫn đảm bảo bảo mật chuẩn công nghiệp.*</a:t>
            </a:r>
          </a:p>
          <a:p>
            <a:pPr algn="l"/>
            <a:r>
              <a:rPr lang="vi-VN" sz="8000" b="1" i="0" dirty="0">
                <a:solidFill>
                  <a:srgbClr val="616161"/>
                </a:solidFill>
                <a:effectLst/>
                <a:latin typeface="+mj-lt"/>
              </a:rPr>
              <a:t>OpenStreetMap</a:t>
            </a:r>
            <a:r>
              <a:rPr lang="vi-VN" sz="8000" b="0" i="0" dirty="0">
                <a:solidFill>
                  <a:srgbClr val="616161"/>
                </a:solidFill>
                <a:effectLst/>
                <a:latin typeface="+mj-lt"/>
              </a:rPr>
              <a:t> thay thế Google Maps để hiển thị bản đồ — lợi thế lớn nhất là hoàn toàn miễn phí và không giới hạn số lượng request."*</a:t>
            </a:r>
          </a:p>
          <a:p>
            <a:endParaRPr lang="en-US" sz="6000" dirty="0">
              <a:latin typeface="+mj-lt"/>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4</a:t>
            </a:fld>
            <a:endParaRPr lang="en-US"/>
          </a:p>
        </p:txBody>
      </p:sp>
    </p:spTree>
    <p:extLst>
      <p:ext uri="{BB962C8B-B14F-4D97-AF65-F5344CB8AC3E}">
        <p14:creationId xmlns:p14="http://schemas.microsoft.com/office/powerpoint/2010/main" val="1464877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F87C-E8B9-5843-706E-499EF0E0A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5586-93E9-9DD0-DE44-F8661E1C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B48-3224-68B5-5DB1-A3D6D8A07282}"/>
              </a:ext>
            </a:extLst>
          </p:cNvPr>
          <p:cNvSpPr>
            <a:spLocks noGrp="1"/>
          </p:cNvSpPr>
          <p:nvPr>
            <p:ph type="body" idx="1"/>
          </p:nvPr>
        </p:nvSpPr>
        <p:spPr/>
        <p:txBody>
          <a:bodyPr/>
          <a:lstStyle/>
          <a:p>
            <a:pPr algn="l"/>
            <a:r>
              <a:rPr lang="vi-VN" b="0" i="1" dirty="0">
                <a:solidFill>
                  <a:srgbClr val="616161"/>
                </a:solidFill>
                <a:effectLst/>
                <a:latin typeface="Times New Roman" panose="02020603050405020304" pitchFamily="18" charset="0"/>
                <a:cs typeface="Times New Roman" panose="02020603050405020304" pitchFamily="18" charset="0"/>
              </a:rPr>
              <a:t>Hệ thống được xây dựng theo kiến trúc Client-Server 3 tầng — mỗi tầng chỉ chịu trách nhiệm một nhiệm vụ duy nhất, giúp hệ thống dễ bảo trì và mở rộng.</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sz="1100" b="1" i="0" dirty="0">
                <a:solidFill>
                  <a:srgbClr val="000000"/>
                </a:solidFill>
                <a:effectLst/>
              </a:rPr>
              <a:t>Tầng Giao diện (Presentation Layer)</a:t>
            </a:r>
          </a:p>
          <a:p>
            <a:pPr algn="l"/>
            <a:r>
              <a:rPr lang="vi-VN" sz="1100" b="0" i="0" dirty="0">
                <a:solidFill>
                  <a:srgbClr val="000000"/>
                </a:solidFill>
                <a:effectLst/>
              </a:rPr>
              <a:t>Tầng giao diện là ứng dụng Flutter. Em chỉ xây dựng </a:t>
            </a:r>
            <a:r>
              <a:rPr lang="vi-VN" sz="1100" b="1" i="0" dirty="0">
                <a:solidFill>
                  <a:srgbClr val="000000"/>
                </a:solidFill>
                <a:effectLst/>
              </a:rPr>
              <a:t>một ứng dụng duy nhất</a:t>
            </a:r>
            <a:r>
              <a:rPr lang="vi-VN" sz="1100" b="0" i="0" dirty="0">
                <a:solidFill>
                  <a:srgbClr val="000000"/>
                </a:solidFill>
                <a:effectLst/>
              </a:rPr>
              <a:t>, nhưng bên trong gồm </a:t>
            </a:r>
            <a:r>
              <a:rPr lang="vi-VN" sz="1100" b="1" i="0" dirty="0">
                <a:solidFill>
                  <a:srgbClr val="000000"/>
                </a:solidFill>
                <a:effectLst/>
              </a:rPr>
              <a:t>3 phân hệ</a:t>
            </a:r>
            <a:r>
              <a:rPr lang="vi-VN" sz="1100" b="0" i="0" dirty="0">
                <a:solidFill>
                  <a:srgbClr val="000000"/>
                </a:solidFill>
                <a:effectLst/>
              </a:rPr>
              <a:t>.</a:t>
            </a:r>
          </a:p>
          <a:p>
            <a:pPr algn="l"/>
            <a:r>
              <a:rPr lang="en-VN" sz="1100" b="1" i="0" dirty="0">
                <a:solidFill>
                  <a:srgbClr val="000000"/>
                </a:solidFill>
                <a:effectLst/>
              </a:rPr>
              <a:t>✅ </a:t>
            </a:r>
            <a:r>
              <a:rPr lang="vi-VN" sz="1100" b="1" i="0" dirty="0">
                <a:solidFill>
                  <a:srgbClr val="000000"/>
                </a:solidFill>
                <a:effectLst/>
              </a:rPr>
              <a:t>Tầng Xử lý nghiệp vụ (Business Logic Layer)</a:t>
            </a:r>
          </a:p>
          <a:p>
            <a:pPr algn="l"/>
            <a:r>
              <a:rPr lang="vi-VN" sz="1100" b="0" i="0" dirty="0">
                <a:solidFill>
                  <a:srgbClr val="000000"/>
                </a:solidFill>
                <a:effectLst/>
              </a:rPr>
              <a:t>Tầng xử lý nghiệp vụ được xây dựng bằng </a:t>
            </a:r>
            <a:r>
              <a:rPr lang="vi-VN" sz="1100" b="1" i="0" dirty="0">
                <a:solidFill>
                  <a:srgbClr val="000000"/>
                </a:solidFill>
                <a:effectLst/>
              </a:rPr>
              <a:t>Node.js và Express.js</a:t>
            </a:r>
            <a:r>
              <a:rPr lang="vi-VN" sz="1100" b="0" i="0" dirty="0">
                <a:solidFill>
                  <a:srgbClr val="000000"/>
                </a:solidFill>
                <a:effectLst/>
              </a:rPr>
              <a:t>.</a:t>
            </a:r>
            <a:br>
              <a:rPr lang="vi-VN" sz="1100" b="0" i="0" dirty="0">
                <a:solidFill>
                  <a:srgbClr val="000000"/>
                </a:solidFill>
                <a:effectLst/>
              </a:rPr>
            </a:br>
            <a:r>
              <a:rPr lang="en-VN" sz="1100" b="1" i="0" dirty="0">
                <a:solidFill>
                  <a:srgbClr val="000000"/>
                </a:solidFill>
                <a:effectLst/>
              </a:rPr>
              <a:t>✅ </a:t>
            </a:r>
            <a:r>
              <a:rPr lang="vi-VN" sz="1100" b="1" i="0" dirty="0">
                <a:solidFill>
                  <a:srgbClr val="000000"/>
                </a:solidFill>
                <a:effectLst/>
              </a:rPr>
              <a:t>Tầng Truy cập dữ liệu (Data Access Layer)</a:t>
            </a:r>
          </a:p>
          <a:p>
            <a:pPr algn="l"/>
            <a:r>
              <a:rPr lang="vi-VN" sz="1100" b="0" i="0" dirty="0">
                <a:solidFill>
                  <a:srgbClr val="000000"/>
                </a:solidFill>
                <a:effectLst/>
              </a:rPr>
              <a:t>Tầng dữ liệu sử dụng </a:t>
            </a:r>
            <a:r>
              <a:rPr lang="vi-VN" sz="1100" b="1" i="0" dirty="0">
                <a:solidFill>
                  <a:srgbClr val="000000"/>
                </a:solidFill>
                <a:effectLst/>
              </a:rPr>
              <a:t>Prisma ORM</a:t>
            </a:r>
            <a:r>
              <a:rPr lang="vi-VN" sz="1100" b="0" i="0" dirty="0">
                <a:solidFill>
                  <a:srgbClr val="000000"/>
                </a:solidFill>
                <a:effectLst/>
              </a:rPr>
              <a:t> kết nối đến </a:t>
            </a:r>
            <a:r>
              <a:rPr lang="vi-VN" sz="1100" b="1" i="0" dirty="0">
                <a:solidFill>
                  <a:srgbClr val="000000"/>
                </a:solidFill>
                <a:effectLst/>
              </a:rPr>
              <a:t>PostgreSQL trên Supabase</a:t>
            </a:r>
            <a:r>
              <a:rPr lang="vi-VN" sz="1100" b="0" i="0" dirty="0">
                <a:solidFill>
                  <a:srgbClr val="000000"/>
                </a:solidFill>
                <a:effectLst/>
              </a:rPr>
              <a:t>.</a:t>
            </a:r>
            <a:br>
              <a:rPr lang="vi-VN" sz="1100" b="0" i="0" dirty="0">
                <a:solidFill>
                  <a:srgbClr val="000000"/>
                </a:solidFill>
                <a:effectLst/>
              </a:rPr>
            </a:br>
            <a:r>
              <a:rPr lang="vi-VN" sz="1100" b="0" i="0" dirty="0">
                <a:solidFill>
                  <a:srgbClr val="000000"/>
                </a:solidFill>
                <a:effectLst/>
              </a:rPr>
              <a:t>Prisma giúp thao tác database an toàn và đảm bảo dữ liệu luôn chính xác và nhất quán.</a:t>
            </a:r>
          </a:p>
          <a:p>
            <a:pPr algn="l"/>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0" u="none" strike="noStrike" dirty="0">
                <a:solidFill>
                  <a:srgbClr val="000000"/>
                </a:solidFill>
                <a:effectLst/>
                <a:latin typeface="-webkit-standard"/>
              </a:rPr>
              <a:t>Phạm vi hệ thống gồm 3 phân hệ trong cùng một ứng dụng, hỗ trợ toàn bộ quy trình từ tìm kiếm món ăn, đặt hàng, xác nhận đơn, giao hàng cho đến khi hoàn thành đơn hàng.</a:t>
            </a:r>
            <a:endParaRPr lang="vi-VN" b="0" i="0" dirty="0">
              <a:solidFill>
                <a:srgbClr val="616161"/>
              </a:solidFill>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5FC125E-8F23-A3D3-F148-4E17A0FBA468}"/>
              </a:ext>
            </a:extLst>
          </p:cNvPr>
          <p:cNvSpPr>
            <a:spLocks noGrp="1"/>
          </p:cNvSpPr>
          <p:nvPr>
            <p:ph type="sldNum" sz="quarter" idx="5"/>
          </p:nvPr>
        </p:nvSpPr>
        <p:spPr/>
        <p:txBody>
          <a:bodyPr/>
          <a:lstStyle/>
          <a:p>
            <a:fld id="{7C655621-BB3A-4FD8-9F2D-99DAB64DC017}" type="slidenum">
              <a:rPr lang="en-US" smtClean="0"/>
              <a:t>5</a:t>
            </a:fld>
            <a:endParaRPr lang="en-US"/>
          </a:p>
        </p:txBody>
      </p:sp>
    </p:spTree>
    <p:extLst>
      <p:ext uri="{BB962C8B-B14F-4D97-AF65-F5344CB8AC3E}">
        <p14:creationId xmlns:p14="http://schemas.microsoft.com/office/powerpoint/2010/main" val="4119295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1" dirty="0">
                <a:solidFill>
                  <a:srgbClr val="616161"/>
                </a:solidFill>
                <a:effectLst/>
                <a:latin typeface="+mj-lt"/>
              </a:rPr>
              <a:t>"Phần thực nghiệm em sẽ đi lần lượt qua 3 phân hệ theo đúng luồng sử dụng thực tế. Bắt đầu với phân hệ Người dùng."</a:t>
            </a:r>
            <a:endParaRPr lang="en-US" sz="1200" dirty="0">
              <a:solidFill>
                <a:srgbClr val="16458C"/>
              </a:solidFill>
              <a:latin typeface="+mj-lt"/>
              <a:ea typeface="Cambria" panose="02040503050406030204" pitchFamily="18" charset="0"/>
              <a:cs typeface="Cambria"/>
              <a:sym typeface="Cambria"/>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6</a:t>
            </a:fld>
            <a:endParaRPr lang="en-US"/>
          </a:p>
        </p:txBody>
      </p:sp>
    </p:spTree>
    <p:extLst>
      <p:ext uri="{BB962C8B-B14F-4D97-AF65-F5344CB8AC3E}">
        <p14:creationId xmlns:p14="http://schemas.microsoft.com/office/powerpoint/2010/main" val="2258439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1" dirty="0">
                <a:solidFill>
                  <a:srgbClr val="616161"/>
                </a:solidFill>
                <a:effectLst/>
                <a:latin typeface="Times New Roman" panose="02020603050405020304" pitchFamily="18" charset="0"/>
                <a:cs typeface="Times New Roman" panose="02020603050405020304" pitchFamily="18" charset="0"/>
              </a:rPr>
              <a:t>"Luồng sử dụng của người dùng bắt đầu từ màn hình </a:t>
            </a:r>
            <a:r>
              <a:rPr lang="vi-VN" b="1" i="1" dirty="0">
                <a:solidFill>
                  <a:srgbClr val="616161"/>
                </a:solidFill>
                <a:effectLst/>
                <a:latin typeface="Times New Roman" panose="02020603050405020304" pitchFamily="18" charset="0"/>
                <a:cs typeface="Times New Roman" panose="02020603050405020304" pitchFamily="18" charset="0"/>
              </a:rPr>
              <a:t>Đăng ký / Đăng nhập</a:t>
            </a:r>
            <a:r>
              <a:rPr lang="vi-VN" b="0" i="1" dirty="0">
                <a:solidFill>
                  <a:srgbClr val="616161"/>
                </a:solidFill>
                <a:effectLst/>
                <a:latin typeface="Times New Roman" panose="02020603050405020304" pitchFamily="18" charset="0"/>
                <a:cs typeface="Times New Roman" panose="02020603050405020304" pitchFamily="18" charset="0"/>
              </a:rPr>
              <a:t>. Em tích hợp Firebase Auth hỗ trợ 3 phương thức: Email/Password, Google Sign-In để đăng nhập nhanh, và OTP qua email khi đăng ký lần đầu — bước OTP đảm bảo người dùng phải sở hữu email thật trước khi tạo tài khoản.</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1" dirty="0">
                <a:solidFill>
                  <a:srgbClr val="616161"/>
                </a:solidFill>
                <a:effectLst/>
                <a:latin typeface="Times New Roman" panose="02020603050405020304" pitchFamily="18" charset="0"/>
                <a:cs typeface="Times New Roman" panose="02020603050405020304" pitchFamily="18" charset="0"/>
              </a:rPr>
              <a:t>Sau khi đăng nhập, người dùng vào </a:t>
            </a:r>
            <a:r>
              <a:rPr lang="vi-VN" b="1" i="1" dirty="0">
                <a:solidFill>
                  <a:srgbClr val="616161"/>
                </a:solidFill>
                <a:effectLst/>
                <a:latin typeface="Times New Roman" panose="02020603050405020304" pitchFamily="18" charset="0"/>
                <a:cs typeface="Times New Roman" panose="02020603050405020304" pitchFamily="18" charset="0"/>
              </a:rPr>
              <a:t>Trang chủ</a:t>
            </a:r>
            <a:r>
              <a:rPr lang="vi-VN" b="0" i="1" dirty="0">
                <a:solidFill>
                  <a:srgbClr val="616161"/>
                </a:solidFill>
                <a:effectLst/>
                <a:latin typeface="Times New Roman" panose="02020603050405020304" pitchFamily="18" charset="0"/>
                <a:cs typeface="Times New Roman" panose="02020603050405020304" pitchFamily="18" charset="0"/>
              </a:rPr>
              <a:t> — hiển thị danh sách nhà hàng, phân theo danh mục, kèm ô tìm kiếm.</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1" dirty="0">
                <a:solidFill>
                  <a:srgbClr val="616161"/>
                </a:solidFill>
                <a:effectLst/>
                <a:latin typeface="Times New Roman" panose="02020603050405020304" pitchFamily="18" charset="0"/>
                <a:cs typeface="Times New Roman" panose="02020603050405020304" pitchFamily="18" charset="0"/>
              </a:rPr>
              <a:t>Khi chọn vào một món ăn, màn hình </a:t>
            </a:r>
            <a:r>
              <a:rPr lang="vi-VN" b="1" i="1" dirty="0">
                <a:solidFill>
                  <a:srgbClr val="616161"/>
                </a:solidFill>
                <a:effectLst/>
                <a:latin typeface="Times New Roman" panose="02020603050405020304" pitchFamily="18" charset="0"/>
                <a:cs typeface="Times New Roman" panose="02020603050405020304" pitchFamily="18" charset="0"/>
              </a:rPr>
              <a:t>Chi tiết món</a:t>
            </a:r>
            <a:r>
              <a:rPr lang="vi-VN" b="0" i="1" dirty="0">
                <a:solidFill>
                  <a:srgbClr val="616161"/>
                </a:solidFill>
                <a:effectLst/>
                <a:latin typeface="Times New Roman" panose="02020603050405020304" pitchFamily="18" charset="0"/>
                <a:cs typeface="Times New Roman" panose="02020603050405020304" pitchFamily="18" charset="0"/>
              </a:rPr>
              <a:t> hiện ra— người dùng có thể chọn size, topping và số lượng. Mỗi option group có thể có giá bổ sung riêng được cộng vào tổng tiền tự động.</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1" i="1" dirty="0">
                <a:solidFill>
                  <a:srgbClr val="616161"/>
                </a:solidFill>
                <a:effectLst/>
                <a:latin typeface="Times New Roman" panose="02020603050405020304" pitchFamily="18" charset="0"/>
                <a:cs typeface="Times New Roman" panose="02020603050405020304" pitchFamily="18" charset="0"/>
              </a:rPr>
              <a:t>Giỏ hàng</a:t>
            </a:r>
            <a:r>
              <a:rPr lang="vi-VN" b="0" i="1" dirty="0">
                <a:solidFill>
                  <a:srgbClr val="616161"/>
                </a:solidFill>
                <a:effectLst/>
                <a:latin typeface="Times New Roman" panose="02020603050405020304" pitchFamily="18" charset="0"/>
                <a:cs typeface="Times New Roman" panose="02020603050405020304" pitchFamily="18" charset="0"/>
              </a:rPr>
              <a:t> tự động tính tổng tiền và phí giao hàng. Phí này được tính dựa trên khoảng cách thực tế giữa vị trí khách hàng và nhà hàng thông qua công thức Haversine — tức là khoảng cách đường chim bay giữa hai tọa độ GPS.</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1" dirty="0">
                <a:solidFill>
                  <a:srgbClr val="616161"/>
                </a:solidFill>
                <a:effectLst/>
                <a:latin typeface="Times New Roman" panose="02020603050405020304" pitchFamily="18" charset="0"/>
                <a:cs typeface="Times New Roman" panose="02020603050405020304" pitchFamily="18" charset="0"/>
              </a:rPr>
              <a:t>Điểm nổi bật nhất là màn hình </a:t>
            </a:r>
            <a:r>
              <a:rPr lang="vi-VN" b="1" i="1" dirty="0">
                <a:solidFill>
                  <a:srgbClr val="616161"/>
                </a:solidFill>
                <a:effectLst/>
                <a:latin typeface="Times New Roman" panose="02020603050405020304" pitchFamily="18" charset="0"/>
                <a:cs typeface="Times New Roman" panose="02020603050405020304" pitchFamily="18" charset="0"/>
              </a:rPr>
              <a:t>Theo dõi đơn hàng</a:t>
            </a:r>
            <a:r>
              <a:rPr lang="vi-VN" b="0" i="1" dirty="0">
                <a:solidFill>
                  <a:srgbClr val="616161"/>
                </a:solidFill>
                <a:effectLst/>
                <a:latin typeface="Times New Roman" panose="02020603050405020304" pitchFamily="18" charset="0"/>
                <a:cs typeface="Times New Roman" panose="02020603050405020304" pitchFamily="18" charset="0"/>
              </a:rPr>
              <a:t> — sau khi đặt hàng thành công, khách có thể xem vị trí tài xế đang di chuyển trực tiếp trên bản đồ theo thời gian thực. </a:t>
            </a:r>
            <a:endParaRPr lang="vi-VN" b="0" i="0" dirty="0">
              <a:solidFill>
                <a:srgbClr val="61616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7</a:t>
            </a:fld>
            <a:endParaRPr lang="en-US"/>
          </a:p>
        </p:txBody>
      </p:sp>
    </p:spTree>
    <p:extLst>
      <p:ext uri="{BB962C8B-B14F-4D97-AF65-F5344CB8AC3E}">
        <p14:creationId xmlns:p14="http://schemas.microsoft.com/office/powerpoint/2010/main" val="149976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1" dirty="0">
                <a:solidFill>
                  <a:srgbClr val="616161"/>
                </a:solidFill>
                <a:effectLst/>
                <a:latin typeface="Times New Roman" panose="02020603050405020304" pitchFamily="18" charset="0"/>
                <a:cs typeface="Times New Roman" panose="02020603050405020304" pitchFamily="18" charset="0"/>
              </a:rPr>
              <a:t>"Phân hệ nhà hàng tập trung vào hai nghiệp vụ cốt lõi: quản lý đơn hàng và quản lý thực đơn.</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1" dirty="0">
                <a:solidFill>
                  <a:srgbClr val="616161"/>
                </a:solidFill>
                <a:effectLst/>
                <a:latin typeface="Times New Roman" panose="02020603050405020304" pitchFamily="18" charset="0"/>
                <a:cs typeface="Times New Roman" panose="02020603050405020304" pitchFamily="18" charset="0"/>
              </a:rPr>
              <a:t>Về </a:t>
            </a:r>
            <a:r>
              <a:rPr lang="vi-VN" b="1" i="1" dirty="0">
                <a:solidFill>
                  <a:srgbClr val="616161"/>
                </a:solidFill>
                <a:effectLst/>
                <a:latin typeface="Times New Roman" panose="02020603050405020304" pitchFamily="18" charset="0"/>
                <a:cs typeface="Times New Roman" panose="02020603050405020304" pitchFamily="18" charset="0"/>
              </a:rPr>
              <a:t>quản lý đơn hàng</a:t>
            </a:r>
            <a:r>
              <a:rPr lang="vi-VN" b="0" i="1" dirty="0">
                <a:solidFill>
                  <a:srgbClr val="616161"/>
                </a:solidFill>
                <a:effectLst/>
                <a:latin typeface="Times New Roman" panose="02020603050405020304" pitchFamily="18" charset="0"/>
                <a:cs typeface="Times New Roman" panose="02020603050405020304" pitchFamily="18" charset="0"/>
              </a:rPr>
              <a:t>: Khi có đơn mới, nhà hàng nhận thông báo. Nhà hàng có thể Xác nhận hoặc Từ chối. Nếu xác nhận, trạng thái đơn chuyển sang Confirmed — lúc này hệ thống sẽ đưa đơn ra thị trường để tài xế nhận</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0" i="1" dirty="0">
                <a:solidFill>
                  <a:srgbClr val="616161"/>
                </a:solidFill>
                <a:effectLst/>
                <a:latin typeface="Times New Roman" panose="02020603050405020304" pitchFamily="18" charset="0"/>
                <a:cs typeface="Times New Roman" panose="02020603050405020304" pitchFamily="18" charset="0"/>
              </a:rPr>
              <a:t>Về </a:t>
            </a:r>
            <a:r>
              <a:rPr lang="vi-VN" b="1" i="1" dirty="0">
                <a:solidFill>
                  <a:srgbClr val="616161"/>
                </a:solidFill>
                <a:effectLst/>
                <a:latin typeface="Times New Roman" panose="02020603050405020304" pitchFamily="18" charset="0"/>
                <a:cs typeface="Times New Roman" panose="02020603050405020304" pitchFamily="18" charset="0"/>
              </a:rPr>
              <a:t>quản lý thực đơn</a:t>
            </a:r>
            <a:r>
              <a:rPr lang="vi-VN" b="0" i="1" dirty="0">
                <a:solidFill>
                  <a:srgbClr val="616161"/>
                </a:solidFill>
                <a:effectLst/>
                <a:latin typeface="Times New Roman" panose="02020603050405020304" pitchFamily="18" charset="0"/>
                <a:cs typeface="Times New Roman" panose="02020603050405020304" pitchFamily="18" charset="0"/>
              </a:rPr>
              <a:t>: Nhà hàng có thể thêm mới, chỉnh sửa hoặc xóa món. </a:t>
            </a:r>
          </a:p>
          <a:p>
            <a:pPr algn="l"/>
            <a:r>
              <a:rPr lang="vi-VN" b="1" i="1" dirty="0">
                <a:solidFill>
                  <a:srgbClr val="616161"/>
                </a:solidFill>
                <a:effectLst/>
                <a:latin typeface="Times New Roman" panose="02020603050405020304" pitchFamily="18" charset="0"/>
                <a:cs typeface="Times New Roman" panose="02020603050405020304" pitchFamily="18" charset="0"/>
              </a:rPr>
              <a:t>Dashboard</a:t>
            </a:r>
            <a:r>
              <a:rPr lang="vi-VN" b="0" i="1" dirty="0">
                <a:solidFill>
                  <a:srgbClr val="616161"/>
                </a:solidFill>
                <a:effectLst/>
                <a:latin typeface="Times New Roman" panose="02020603050405020304" pitchFamily="18" charset="0"/>
                <a:cs typeface="Times New Roman" panose="02020603050405020304" pitchFamily="18" charset="0"/>
              </a:rPr>
              <a:t> hiển thị tổng quan đơn hàng hôm nay và doanh thu. Trang </a:t>
            </a:r>
            <a:r>
              <a:rPr lang="vi-VN" b="1" i="1" dirty="0">
                <a:solidFill>
                  <a:srgbClr val="616161"/>
                </a:solidFill>
                <a:effectLst/>
                <a:latin typeface="Times New Roman" panose="02020603050405020304" pitchFamily="18" charset="0"/>
                <a:cs typeface="Times New Roman" panose="02020603050405020304" pitchFamily="18" charset="0"/>
              </a:rPr>
              <a:t>Báo cáo</a:t>
            </a:r>
            <a:r>
              <a:rPr lang="vi-VN" b="0" i="1" dirty="0">
                <a:solidFill>
                  <a:srgbClr val="616161"/>
                </a:solidFill>
                <a:effectLst/>
                <a:latin typeface="Times New Roman" panose="02020603050405020304" pitchFamily="18" charset="0"/>
                <a:cs typeface="Times New Roman" panose="02020603050405020304" pitchFamily="18" charset="0"/>
              </a:rPr>
              <a:t> cho phép xem biểu đồ doanh thu theo ngày hoặc tháng — giúp nhà hàng nhận diện xu hướng và điều chỉnh thực đơn phù hợp."</a:t>
            </a:r>
            <a:endParaRPr lang="vi-VN" b="0" i="0" dirty="0">
              <a:solidFill>
                <a:srgbClr val="61616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8</a:t>
            </a:fld>
            <a:endParaRPr lang="en-US"/>
          </a:p>
        </p:txBody>
      </p:sp>
    </p:spTree>
    <p:extLst>
      <p:ext uri="{BB962C8B-B14F-4D97-AF65-F5344CB8AC3E}">
        <p14:creationId xmlns:p14="http://schemas.microsoft.com/office/powerpoint/2010/main" val="3728989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latin typeface="+mj-lt"/>
              </a:rPr>
              <a:t>Phân hệ tài xế được thiết kế xoay quanh một luồng giao hàng chính gồm: nhận đơn, đến nhà hàng lấy hàng và giao đến khách.</a:t>
            </a:r>
          </a:p>
          <a:p>
            <a:pPr algn="l"/>
            <a:r>
              <a:rPr lang="en-VN" b="0" i="0" dirty="0">
                <a:solidFill>
                  <a:srgbClr val="000000"/>
                </a:solidFill>
                <a:effectLst/>
                <a:latin typeface="+mj-lt"/>
              </a:rPr>
              <a:t>👉 </a:t>
            </a:r>
            <a:r>
              <a:rPr lang="vi-VN" b="1" i="0" dirty="0">
                <a:solidFill>
                  <a:srgbClr val="000000"/>
                </a:solidFill>
                <a:effectLst/>
                <a:latin typeface="+mj-lt"/>
              </a:rPr>
              <a:t>Bước 1 – Sau khi đăng nhập</a:t>
            </a:r>
            <a:endParaRPr lang="vi-VN" b="0" i="0" dirty="0">
              <a:solidFill>
                <a:srgbClr val="000000"/>
              </a:solidFill>
              <a:effectLst/>
              <a:latin typeface="+mj-lt"/>
            </a:endParaRPr>
          </a:p>
          <a:p>
            <a:r>
              <a:rPr lang="vi-VN" dirty="0">
                <a:latin typeface="+mj-lt"/>
              </a:rPr>
              <a:t>Sau khi đăng nhập, tài xế vào màn hình </a:t>
            </a:r>
            <a:r>
              <a:rPr lang="vi-VN" i="1" dirty="0">
                <a:latin typeface="+mj-lt"/>
              </a:rPr>
              <a:t>Nhận đơn</a:t>
            </a:r>
            <a:r>
              <a:rPr lang="vi-VN" dirty="0">
                <a:latin typeface="+mj-lt"/>
              </a:rPr>
              <a:t>, nơi hiển thị danh sách các đơn hàng đang chờ. Khi tài xế chấp nhận đơn, hệ thống ngay lập tức mở bản đồ và hiển thị lộ trình từ vị trí hiện tại đến nhà hàng.</a:t>
            </a:r>
          </a:p>
          <a:p>
            <a:pPr algn="l"/>
            <a:r>
              <a:rPr lang="en-VN" b="0" i="0" dirty="0">
                <a:solidFill>
                  <a:srgbClr val="000000"/>
                </a:solidFill>
                <a:effectLst/>
                <a:latin typeface="+mj-lt"/>
              </a:rPr>
              <a:t>👉 </a:t>
            </a:r>
            <a:r>
              <a:rPr lang="vi-VN" b="1" i="0" dirty="0">
                <a:solidFill>
                  <a:srgbClr val="000000"/>
                </a:solidFill>
                <a:effectLst/>
                <a:latin typeface="+mj-lt"/>
              </a:rPr>
              <a:t>Bước 2 – Điều hướng &amp; theo dõi</a:t>
            </a:r>
            <a:endParaRPr lang="vi-VN" b="0" i="0" dirty="0">
              <a:solidFill>
                <a:srgbClr val="000000"/>
              </a:solidFill>
              <a:effectLst/>
              <a:latin typeface="+mj-lt"/>
            </a:endParaRPr>
          </a:p>
          <a:p>
            <a:r>
              <a:rPr lang="vi-VN" dirty="0">
                <a:latin typeface="+mj-lt"/>
              </a:rPr>
              <a:t>Trong quá trình di chuyển, ứng dụng liên tục cập nhật vị trí tài xế theo thời gian thực. Vị trí này được gửi về backend và đồng bộ ngay cho phía khách hàng để họ có thể theo dõi đơn hàng trực tiếp trên bản đồ.</a:t>
            </a:r>
          </a:p>
          <a:p>
            <a:r>
              <a:rPr lang="vi-VN" dirty="0">
                <a:latin typeface="+mj-lt"/>
              </a:rPr>
              <a:t>Ứng dụng lấy tọa độ GPS liên tục, gửi về backend thông qua API. Backend lưu dữ liệu và sử dụng cơ chế realtime để cập nhật vị trí gần như ngay lập tức cho ứng dụng khách hàng.</a:t>
            </a:r>
          </a:p>
          <a:p>
            <a:pPr algn="l"/>
            <a:r>
              <a:rPr lang="en-VN" b="0" i="0" dirty="0">
                <a:solidFill>
                  <a:srgbClr val="000000"/>
                </a:solidFill>
                <a:effectLst/>
                <a:latin typeface="+mj-lt"/>
              </a:rPr>
              <a:t>👉 </a:t>
            </a:r>
            <a:r>
              <a:rPr lang="vi-VN" b="1" i="0" dirty="0">
                <a:solidFill>
                  <a:srgbClr val="000000"/>
                </a:solidFill>
                <a:effectLst/>
                <a:latin typeface="+mj-lt"/>
              </a:rPr>
              <a:t>Bước cuối</a:t>
            </a:r>
            <a:endParaRPr lang="vi-VN" b="0" i="0" dirty="0">
              <a:solidFill>
                <a:srgbClr val="000000"/>
              </a:solidFill>
              <a:effectLst/>
              <a:latin typeface="+mj-lt"/>
            </a:endParaRPr>
          </a:p>
          <a:p>
            <a:r>
              <a:rPr lang="vi-VN" dirty="0">
                <a:latin typeface="+mj-lt"/>
              </a:rPr>
              <a:t>Sau khi giao hàng thành công, tài xế xác nhận hoàn thành, đơn hàng chuyển sang trạng thái hoàn tất và doanh thu được cộng vào dashboard.</a:t>
            </a:r>
          </a:p>
          <a:p>
            <a:endParaRPr lang="vi-VN" dirty="0">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latin typeface="+mj-lt"/>
              </a:rPr>
              <a:t>Tài xế có thể vào Dashboard để xem số đơn đã hoàn thành và thu nhập trong ngày, đồng thời quản lý lịch sử đơn hàng và thông tin cá nhân.</a:t>
            </a:r>
          </a:p>
          <a:p>
            <a:endParaRPr lang="vi-VN" dirty="0">
              <a:latin typeface="+mj-lt"/>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9</a:t>
            </a:fld>
            <a:endParaRPr lang="en-US"/>
          </a:p>
        </p:txBody>
      </p:sp>
    </p:spTree>
    <p:extLst>
      <p:ext uri="{BB962C8B-B14F-4D97-AF65-F5344CB8AC3E}">
        <p14:creationId xmlns:p14="http://schemas.microsoft.com/office/powerpoint/2010/main" val="1909703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err="1">
                <a:solidFill>
                  <a:srgbClr val="000000"/>
                </a:solidFill>
                <a:effectLst/>
                <a:latin typeface="Times New Roman" panose="02020603050405020304" pitchFamily="18" charset="0"/>
                <a:cs typeface="Times New Roman" panose="02020603050405020304" pitchFamily="18" charset="0"/>
              </a:rPr>
              <a:t>Về</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mặt</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sản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phẩm</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em</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đã</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hoàn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thiện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đầy</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đủ</a:t>
            </a:r>
            <a:r>
              <a:rPr lang="en-US" b="0" i="0" u="none" strike="noStrike" dirty="0">
                <a:solidFill>
                  <a:srgbClr val="000000"/>
                </a:solidFill>
                <a:effectLst/>
                <a:latin typeface="Times New Roman" panose="02020603050405020304" pitchFamily="18" charset="0"/>
                <a:cs typeface="Times New Roman" panose="02020603050405020304" pitchFamily="18" charset="0"/>
              </a:rPr>
              <a:t> 3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phân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hệ</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gồm</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khách</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hàng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nhà</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hàng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tài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xế</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với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chức</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năng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cốt</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lõi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hoạt</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động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ổn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định</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u="none" strike="noStrike" dirty="0" err="1">
                <a:solidFill>
                  <a:srgbClr val="000000"/>
                </a:solidFill>
                <a:effectLst/>
                <a:latin typeface="Times New Roman" panose="02020603050405020304" pitchFamily="18" charset="0"/>
                <a:cs typeface="Times New Roman" panose="02020603050405020304" pitchFamily="18" charset="0"/>
              </a:rPr>
              <a:t>Hệ</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thống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hỗ</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trợ</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toàn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bộ</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quy</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trình</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đặt</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món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giao</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hàng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theo</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thời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gian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thực</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p>
          <a:p>
            <a:pPr algn="l"/>
            <a:r>
              <a:rPr lang="vi-VN" b="0" i="0" u="none" strike="noStrike" dirty="0">
                <a:solidFill>
                  <a:srgbClr val="000000"/>
                </a:solidFill>
                <a:effectLst/>
                <a:latin typeface="Times New Roman" panose="02020603050405020304" pitchFamily="18" charset="0"/>
                <a:cs typeface="Times New Roman" panose="02020603050405020304" pitchFamily="18" charset="0"/>
              </a:rPr>
              <a:t>Bên cạnh đó, hệ thống vẫn còn một số hạn chế.</a:t>
            </a:r>
            <a:br>
              <a:rPr lang="vi-VN" dirty="0">
                <a:latin typeface="Times New Roman" panose="02020603050405020304" pitchFamily="18" charset="0"/>
                <a:cs typeface="Times New Roman" panose="02020603050405020304" pitchFamily="18" charset="0"/>
              </a:rPr>
            </a:br>
            <a:r>
              <a:rPr lang="vi-VN" b="0" i="0" u="none" strike="noStrike" dirty="0">
                <a:solidFill>
                  <a:srgbClr val="000000"/>
                </a:solidFill>
                <a:effectLst/>
                <a:latin typeface="Times New Roman" panose="02020603050405020304" pitchFamily="18" charset="0"/>
                <a:cs typeface="Times New Roman" panose="02020603050405020304" pitchFamily="18" charset="0"/>
              </a:rPr>
              <a:t>Hiện tại ứng dụng chưa tích hợp thanh toán trực tuyến mà mới hỗ trợ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nhận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hàng</a:t>
            </a:r>
            <a:r>
              <a:rPr lang="vi-VN" b="0" i="0" u="none" strike="noStrike" dirty="0">
                <a:solidFill>
                  <a:srgbClr val="000000"/>
                </a:solidFill>
                <a:effectLst/>
                <a:latin typeface="Times New Roman" panose="02020603050405020304" pitchFamily="18" charset="0"/>
                <a:cs typeface="Times New Roman" panose="02020603050405020304" pitchFamily="18" charset="0"/>
              </a:rPr>
              <a:t>.</a:t>
            </a:r>
            <a:br>
              <a:rPr lang="vi-VN" dirty="0">
                <a:latin typeface="Times New Roman" panose="02020603050405020304" pitchFamily="18" charset="0"/>
                <a:cs typeface="Times New Roman" panose="02020603050405020304" pitchFamily="18" charset="0"/>
              </a:rPr>
            </a:br>
            <a:r>
              <a:rPr lang="vi-VN" b="0" i="0" u="none" strike="noStrike" dirty="0">
                <a:solidFill>
                  <a:srgbClr val="000000"/>
                </a:solidFill>
                <a:effectLst/>
                <a:latin typeface="Times New Roman" panose="02020603050405020304" pitchFamily="18" charset="0"/>
                <a:cs typeface="Times New Roman" panose="02020603050405020304" pitchFamily="18" charset="0"/>
              </a:rPr>
              <a:t>Ngoài ra, cơ chế realtime chỉ hoạt động khi ứng dụng đang mở, nên chưa thể gửi thông báo khi người dùng offline.</a:t>
            </a:r>
            <a:endParaRPr lang="vi-VN" b="0" i="0" dirty="0">
              <a:solidFill>
                <a:srgbClr val="61616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10</a:t>
            </a:fld>
            <a:endParaRPr lang="en-US"/>
          </a:p>
        </p:txBody>
      </p:sp>
    </p:spTree>
    <p:extLst>
      <p:ext uri="{BB962C8B-B14F-4D97-AF65-F5344CB8AC3E}">
        <p14:creationId xmlns:p14="http://schemas.microsoft.com/office/powerpoint/2010/main" val="3079330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1" dirty="0">
                <a:solidFill>
                  <a:srgbClr val="616161"/>
                </a:solidFill>
                <a:effectLst/>
                <a:latin typeface="Times New Roman" panose="02020603050405020304" pitchFamily="18" charset="0"/>
                <a:cs typeface="Times New Roman" panose="02020603050405020304" pitchFamily="18" charset="0"/>
              </a:rPr>
              <a:t>"Em chia hướng phát triển theo 3 giai đoạn dựa trên mức độ ảnh hưởng thực tế đến người dùng.</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1" i="1" dirty="0">
                <a:solidFill>
                  <a:srgbClr val="616161"/>
                </a:solidFill>
                <a:effectLst/>
                <a:latin typeface="Times New Roman" panose="02020603050405020304" pitchFamily="18" charset="0"/>
                <a:cs typeface="Times New Roman" panose="02020603050405020304" pitchFamily="18" charset="0"/>
              </a:rPr>
              <a:t>Ngắn hạn</a:t>
            </a:r>
            <a:r>
              <a:rPr lang="vi-VN" b="0" i="1" dirty="0">
                <a:solidFill>
                  <a:srgbClr val="616161"/>
                </a:solidFill>
                <a:effectLst/>
                <a:latin typeface="Times New Roman" panose="02020603050405020304" pitchFamily="18" charset="0"/>
                <a:cs typeface="Times New Roman" panose="02020603050405020304" pitchFamily="18" charset="0"/>
              </a:rPr>
              <a:t> là những gì em sẽ làm ngay nếu tiếp tục: Tích hợp thanh toán online — VNPay, MoMo, ZaloPay — vì đây là tính năng khách hàng cần nhất. Thêm push notification dùng Firebase Cloud Messaging để thông báo hoạt động ngay cả khi app đang tắt. Và chat realtime giữa khách và tài xế để xử lý tình huống tài xế không tìm được địa chỉ.</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1" i="1" dirty="0">
                <a:solidFill>
                  <a:srgbClr val="616161"/>
                </a:solidFill>
                <a:effectLst/>
                <a:latin typeface="Times New Roman" panose="02020603050405020304" pitchFamily="18" charset="0"/>
                <a:cs typeface="Times New Roman" panose="02020603050405020304" pitchFamily="18" charset="0"/>
              </a:rPr>
              <a:t>Trung hạn</a:t>
            </a:r>
            <a:r>
              <a:rPr lang="vi-VN" b="0" i="1" dirty="0">
                <a:solidFill>
                  <a:srgbClr val="616161"/>
                </a:solidFill>
                <a:effectLst/>
                <a:latin typeface="Times New Roman" panose="02020603050405020304" pitchFamily="18" charset="0"/>
                <a:cs typeface="Times New Roman" panose="02020603050405020304" pitchFamily="18" charset="0"/>
              </a:rPr>
              <a:t>: Hệ thống đánh giá nhà hàng và tài xế — quan trọng để xây dựng lòng tin trong hệ sinh thái. Mã giảm giá và voucher để tăng tỷ lệ đặt lại. Hỗ trợ đa ngôn ngữ để mở rộng đối tượng người dùng.</a:t>
            </a:r>
            <a:endParaRPr lang="vi-VN" b="0" i="0" dirty="0">
              <a:solidFill>
                <a:srgbClr val="616161"/>
              </a:solidFill>
              <a:effectLst/>
              <a:latin typeface="Times New Roman" panose="02020603050405020304" pitchFamily="18" charset="0"/>
              <a:cs typeface="Times New Roman" panose="02020603050405020304" pitchFamily="18" charset="0"/>
            </a:endParaRPr>
          </a:p>
          <a:p>
            <a:pPr algn="l"/>
            <a:r>
              <a:rPr lang="vi-VN" b="1" i="1" dirty="0">
                <a:solidFill>
                  <a:srgbClr val="616161"/>
                </a:solidFill>
                <a:effectLst/>
                <a:latin typeface="Times New Roman" panose="02020603050405020304" pitchFamily="18" charset="0"/>
                <a:cs typeface="Times New Roman" panose="02020603050405020304" pitchFamily="18" charset="0"/>
              </a:rPr>
              <a:t>Dài hạn</a:t>
            </a:r>
            <a:r>
              <a:rPr lang="vi-VN" b="0" i="1" dirty="0">
                <a:solidFill>
                  <a:srgbClr val="616161"/>
                </a:solidFill>
                <a:effectLst/>
                <a:latin typeface="Times New Roman" panose="02020603050405020304" pitchFamily="18" charset="0"/>
                <a:cs typeface="Times New Roman" panose="02020603050405020304" pitchFamily="18" charset="0"/>
              </a:rPr>
              <a:t>: Xuất bản lên Google Play và App Store. Tích hợp AI để gợi ý món ăn dựa trên lịch sử đặt hàng và sở thích. Và xây dựng Dashboard Admin để quản lý toàn hệ thống — hiện tại em chưa có màn hình này."</a:t>
            </a:r>
            <a:endParaRPr lang="vi-VN" b="0" i="0" dirty="0">
              <a:solidFill>
                <a:srgbClr val="61616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11</a:t>
            </a:fld>
            <a:endParaRPr lang="en-US"/>
          </a:p>
        </p:txBody>
      </p:sp>
    </p:spTree>
    <p:extLst>
      <p:ext uri="{BB962C8B-B14F-4D97-AF65-F5344CB8AC3E}">
        <p14:creationId xmlns:p14="http://schemas.microsoft.com/office/powerpoint/2010/main" val="2838572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err="1">
                <a:latin typeface="Cambria" panose="02040503050406030204" pitchFamily="18" charset="0"/>
                <a:ea typeface="Cambria" panose="02040503050406030204" pitchFamily="18" charset="0"/>
              </a:rPr>
              <a:t>Vừa</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rồi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là</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phần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báo</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cáo</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đồ</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tốt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nghiệp</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của</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em</a:t>
            </a:r>
            <a:r>
              <a:rPr lang="en-US" sz="4000" dirty="0">
                <a:latin typeface="Cambria" panose="02040503050406030204" pitchFamily="18" charset="0"/>
                <a:ea typeface="Cambria" panose="02040503050406030204" pitchFamily="18" charset="0"/>
              </a:rPr>
              <a:t>, do </a:t>
            </a:r>
            <a:r>
              <a:rPr lang="en-US" sz="4000" dirty="0" err="1">
                <a:latin typeface="Cambria" panose="02040503050406030204" pitchFamily="18" charset="0"/>
                <a:ea typeface="Cambria" panose="02040503050406030204" pitchFamily="18" charset="0"/>
              </a:rPr>
              <a:t>giới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hạn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mặt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thời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gian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cũng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như</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mặt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kiến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thức</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trong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khi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làm</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đồ</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còn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hạn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chế</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không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tránh</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khỏi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những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sai</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xót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em</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rất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mong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nhận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đc</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sự</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góp</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ý</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từ</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các</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thầy</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cô</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và</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các</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bạn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để</a:t>
            </a:r>
            <a:r>
              <a:rPr lang="en-US" sz="4000" dirty="0">
                <a:latin typeface="Cambria" panose="02040503050406030204" pitchFamily="18" charset="0"/>
                <a:ea typeface="Cambria" panose="02040503050406030204" pitchFamily="18" charset="0"/>
              </a:rPr>
              <a:t> e </a:t>
            </a:r>
            <a:r>
              <a:rPr lang="en-US" sz="4000" dirty="0" err="1">
                <a:latin typeface="Cambria" panose="02040503050406030204" pitchFamily="18" charset="0"/>
                <a:ea typeface="Cambria" panose="02040503050406030204" pitchFamily="18" charset="0"/>
              </a:rPr>
              <a:t>hoàn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thiện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đồ</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của</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mình</a:t>
            </a:r>
            <a:r>
              <a:rPr lang="en-US" sz="4000" dirty="0">
                <a:latin typeface="Cambria" panose="02040503050406030204" pitchFamily="18" charset="0"/>
                <a:ea typeface="Cambria" panose="02040503050406030204" pitchFamily="18" charset="0"/>
              </a:rPr>
              <a:t> 1 </a:t>
            </a:r>
            <a:r>
              <a:rPr lang="en-US" sz="4000" dirty="0" err="1">
                <a:latin typeface="Cambria" panose="02040503050406030204" pitchFamily="18" charset="0"/>
                <a:ea typeface="Cambria" panose="02040503050406030204" pitchFamily="18" charset="0"/>
              </a:rPr>
              <a:t>cách</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tốt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hơn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Một</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lần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nữa</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xin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trân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thành</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cảm</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thầy</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cô</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và</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các</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bạn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đã</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lắng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nghe</a:t>
            </a:r>
            <a:r>
              <a:rPr lang="en-US" sz="4000" dirty="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5"/>
          </p:nvPr>
        </p:nvSpPr>
        <p:spPr/>
        <p:txBody>
          <a:bodyPr/>
          <a:lstStyle/>
          <a:p>
            <a:fld id="{7C655621-BB3A-4FD8-9F2D-99DAB64DC017}" type="slidenum">
              <a:rPr lang="en-US" smtClean="0"/>
              <a:t>12</a:t>
            </a:fld>
            <a:endParaRPr lang="en-US"/>
          </a:p>
        </p:txBody>
      </p:sp>
    </p:spTree>
    <p:extLst>
      <p:ext uri="{BB962C8B-B14F-4D97-AF65-F5344CB8AC3E}">
        <p14:creationId xmlns:p14="http://schemas.microsoft.com/office/powerpoint/2010/main" val="87103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1.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45.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noProof="0" dirty="0">
              <a:solidFill>
                <a:srgbClr val="0070C0"/>
              </a:solidFill>
            </a:endParaRPr>
          </a:p>
        </p:txBody>
      </p:sp>
      <p:sp>
        <p:nvSpPr>
          <p:cNvPr id="3" name="TextBox 3"/>
          <p:cNvSpPr txBox="1"/>
          <p:nvPr/>
        </p:nvSpPr>
        <p:spPr>
          <a:xfrm>
            <a:off x="3540990" y="2075543"/>
            <a:ext cx="11129822" cy="1019638"/>
          </a:xfrm>
          <a:prstGeom prst="rect">
            <a:avLst/>
          </a:prstGeom>
        </p:spPr>
        <p:txBody>
          <a:bodyPr wrap="square" lIns="0" tIns="0" rIns="0" bIns="0" rtlCol="0" anchor="t">
            <a:spAutoFit/>
          </a:bodyPr>
          <a:lstStyle/>
          <a:p>
            <a:pPr algn="l">
              <a:lnSpc>
                <a:spcPts val="8640"/>
              </a:lnSpc>
            </a:pPr>
            <a:r>
              <a:rPr lang="vi-VN" sz="6600" b="1" noProof="0" dirty="0">
                <a:solidFill>
                  <a:srgbClr val="16458C"/>
                </a:solidFill>
                <a:latin typeface="Cambria" panose="02040503050406030204" pitchFamily="18" charset="0"/>
                <a:ea typeface="Cambria" panose="02040503050406030204" pitchFamily="18" charset="0"/>
                <a:cs typeface="Cambria Bold"/>
                <a:sym typeface="Cambria Bold"/>
              </a:rPr>
              <a:t>BÁO CÁO ĐỒ ÁN TỐT NGHIỆP</a:t>
            </a:r>
          </a:p>
        </p:txBody>
      </p:sp>
      <p:sp>
        <p:nvSpPr>
          <p:cNvPr id="4" name="TextBox 4"/>
          <p:cNvSpPr txBox="1"/>
          <p:nvPr/>
        </p:nvSpPr>
        <p:spPr>
          <a:xfrm>
            <a:off x="1714500" y="4131008"/>
            <a:ext cx="14858999" cy="738664"/>
          </a:xfrm>
          <a:prstGeom prst="rect">
            <a:avLst/>
          </a:prstGeom>
        </p:spPr>
        <p:txBody>
          <a:bodyPr wrap="square" lIns="0" tIns="0" rIns="0" bIns="0" rtlCol="0" anchor="t">
            <a:spAutoFit/>
          </a:bodyPr>
          <a:lstStyle/>
          <a:p>
            <a:r>
              <a:rPr lang="en-US" sz="4800" b="1" dirty="0">
                <a:solidFill>
                  <a:srgbClr val="FFC000"/>
                </a:solidFill>
                <a:effectLst/>
                <a:latin typeface="Times New Roman" panose="02020603050405020304" pitchFamily="18" charset="0"/>
              </a:rPr>
              <a:t>XÂY DỰNG ỨNG DỤNG GIAO HÀNG TRỰC</a:t>
            </a:r>
            <a:r>
              <a:rPr lang="en-US" sz="4800" dirty="0">
                <a:solidFill>
                  <a:srgbClr val="FFC000"/>
                </a:solidFill>
                <a:latin typeface="Times New Roman" panose="02020603050405020304" pitchFamily="18" charset="0"/>
              </a:rPr>
              <a:t> </a:t>
            </a:r>
            <a:r>
              <a:rPr lang="en-US" sz="4800" b="1" dirty="0">
                <a:solidFill>
                  <a:srgbClr val="FFC000"/>
                </a:solidFill>
                <a:effectLst/>
                <a:latin typeface="Times New Roman" panose="02020603050405020304" pitchFamily="18" charset="0"/>
              </a:rPr>
              <a:t>TUYẾN</a:t>
            </a:r>
            <a:endParaRPr lang="en-US" sz="4800" dirty="0">
              <a:solidFill>
                <a:srgbClr val="FFC000"/>
              </a:solidFill>
              <a:effectLst/>
              <a:latin typeface="Times New Roman" panose="02020603050405020304" pitchFamily="18" charset="0"/>
            </a:endParaRPr>
          </a:p>
        </p:txBody>
      </p:sp>
      <p:graphicFrame>
        <p:nvGraphicFramePr>
          <p:cNvPr id="5" name="Table 5"/>
          <p:cNvGraphicFramePr>
            <a:graphicFrameLocks noGrp="1"/>
          </p:cNvGraphicFramePr>
          <p:nvPr>
            <p:extLst>
              <p:ext uri="{D42A27DB-BD31-4B8C-83A1-F6EECF244321}">
                <p14:modId xmlns:p14="http://schemas.microsoft.com/office/powerpoint/2010/main" val="496014944"/>
              </p:ext>
            </p:extLst>
          </p:nvPr>
        </p:nvGraphicFramePr>
        <p:xfrm>
          <a:off x="4876800" y="5905500"/>
          <a:ext cx="8222766" cy="2560320"/>
        </p:xfrm>
        <a:graphic>
          <a:graphicData uri="http://schemas.openxmlformats.org/drawingml/2006/table">
            <a:tbl>
              <a:tblPr/>
              <a:tblGrid>
                <a:gridCol w="4197501">
                  <a:extLst>
                    <a:ext uri="{9D8B030D-6E8A-4147-A177-3AD203B41FA5}">
                      <a16:colId xmlns:a16="http://schemas.microsoft.com/office/drawing/2014/main" val="20000"/>
                    </a:ext>
                  </a:extLst>
                </a:gridCol>
                <a:gridCol w="4025265">
                  <a:extLst>
                    <a:ext uri="{9D8B030D-6E8A-4147-A177-3AD203B41FA5}">
                      <a16:colId xmlns:a16="http://schemas.microsoft.com/office/drawing/2014/main" val="20001"/>
                    </a:ext>
                  </a:extLst>
                </a:gridCol>
              </a:tblGrid>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Giảng viên hướng dẫn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ThS. </a:t>
                      </a:r>
                      <a:r>
                        <a:rPr lang="en-US" sz="3000" noProof="0" dirty="0" err="1">
                          <a:solidFill>
                            <a:schemeClr val="tx2">
                              <a:lumMod val="50000"/>
                            </a:schemeClr>
                          </a:solidFill>
                          <a:latin typeface="Cambria" panose="02040503050406030204" pitchFamily="18" charset="0"/>
                          <a:ea typeface="Cambria" panose="02040503050406030204" pitchFamily="18" charset="0"/>
                          <a:cs typeface="Aptos"/>
                          <a:sym typeface="Aptos"/>
                        </a:rPr>
                        <a:t>Nguyễn</a:t>
                      </a:r>
                      <a:r>
                        <a:rPr lang="en-US"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a:t>
                      </a:r>
                      <a:r>
                        <a:rPr lang="en-US" sz="3000" noProof="0" dirty="0" err="1">
                          <a:solidFill>
                            <a:schemeClr val="tx2">
                              <a:lumMod val="50000"/>
                            </a:schemeClr>
                          </a:solidFill>
                          <a:latin typeface="Cambria" panose="02040503050406030204" pitchFamily="18" charset="0"/>
                          <a:ea typeface="Cambria" panose="02040503050406030204" pitchFamily="18" charset="0"/>
                          <a:cs typeface="Aptos"/>
                          <a:sym typeface="Aptos"/>
                        </a:rPr>
                        <a:t>Văn</a:t>
                      </a:r>
                      <a:r>
                        <a:rPr lang="en-US"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a:t>
                      </a:r>
                      <a:r>
                        <a:rPr lang="en-US" sz="3000" noProof="0" dirty="0" err="1">
                          <a:solidFill>
                            <a:schemeClr val="tx2">
                              <a:lumMod val="50000"/>
                            </a:schemeClr>
                          </a:solidFill>
                          <a:latin typeface="Cambria" panose="02040503050406030204" pitchFamily="18" charset="0"/>
                          <a:ea typeface="Cambria" panose="02040503050406030204" pitchFamily="18" charset="0"/>
                          <a:cs typeface="Aptos"/>
                          <a:sym typeface="Aptos"/>
                        </a:rPr>
                        <a:t>Tùng</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Sinh viên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Nguyễn Công An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Lớp chuyên ngành</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a:solidFill>
                            <a:schemeClr val="tx2">
                              <a:lumMod val="50000"/>
                            </a:schemeClr>
                          </a:solidFill>
                          <a:latin typeface="Cambria" panose="02040503050406030204" pitchFamily="18" charset="0"/>
                          <a:ea typeface="Cambria" panose="02040503050406030204" pitchFamily="18" charset="0"/>
                          <a:cs typeface="Aptos"/>
                          <a:sym typeface="Aptos"/>
                        </a:rPr>
                        <a:t> </a:t>
                      </a: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KHMT02</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Khóa</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17</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444" y="2880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1143000" y="1943100"/>
            <a:ext cx="12298244" cy="1107996"/>
          </a:xfrm>
          <a:prstGeom prst="rect">
            <a:avLst/>
          </a:prstGeom>
        </p:spPr>
        <p:txBody>
          <a:bodyPr wrap="square" lIns="0" tIns="0" rIns="0" bIns="0" rtlCol="0" anchor="t">
            <a:spAutoFit/>
          </a:bodyPr>
          <a:lstStyle/>
          <a:p>
            <a:pPr algn="l"/>
            <a:r>
              <a:rPr lang="en-US" sz="7200" b="1" i="0" dirty="0" err="1">
                <a:solidFill>
                  <a:srgbClr val="15458C"/>
                </a:solidFill>
                <a:effectLst/>
                <a:latin typeface="Times New Roman" panose="02020603050405020304" pitchFamily="18" charset="0"/>
                <a:cs typeface="Times New Roman" panose="02020603050405020304" pitchFamily="18" charset="0"/>
              </a:rPr>
              <a:t>Tổng</a:t>
            </a:r>
            <a:r>
              <a:rPr lang="en-US" sz="7200" b="1" i="0" dirty="0">
                <a:solidFill>
                  <a:srgbClr val="15458C"/>
                </a:solidFill>
                <a:effectLst/>
                <a:latin typeface="Times New Roman" panose="02020603050405020304" pitchFamily="18" charset="0"/>
                <a:cs typeface="Times New Roman" panose="02020603050405020304" pitchFamily="18" charset="0"/>
              </a:rPr>
              <a:t> </a:t>
            </a:r>
            <a:r>
              <a:rPr lang="en-US" sz="7200" b="1" i="0" dirty="0" err="1">
                <a:solidFill>
                  <a:srgbClr val="15458C"/>
                </a:solidFill>
                <a:effectLst/>
                <a:latin typeface="Times New Roman" panose="02020603050405020304" pitchFamily="18" charset="0"/>
                <a:cs typeface="Times New Roman" panose="02020603050405020304" pitchFamily="18" charset="0"/>
              </a:rPr>
              <a:t>quan</a:t>
            </a:r>
            <a:r>
              <a:rPr lang="en-US" sz="7200" b="1" i="0" dirty="0">
                <a:solidFill>
                  <a:srgbClr val="15458C"/>
                </a:solidFill>
                <a:effectLst/>
                <a:latin typeface="Times New Roman" panose="02020603050405020304" pitchFamily="18" charset="0"/>
                <a:cs typeface="Times New Roman" panose="02020603050405020304" pitchFamily="18" charset="0"/>
              </a:rPr>
              <a:t> </a:t>
            </a:r>
            <a:r>
              <a:rPr lang="en-US" sz="7200" b="1" i="0" dirty="0" err="1">
                <a:solidFill>
                  <a:srgbClr val="15458C"/>
                </a:solidFill>
                <a:effectLst/>
                <a:latin typeface="Times New Roman" panose="02020603050405020304" pitchFamily="18" charset="0"/>
                <a:cs typeface="Times New Roman" panose="02020603050405020304" pitchFamily="18" charset="0"/>
              </a:rPr>
              <a:t>nội</a:t>
            </a:r>
            <a:r>
              <a:rPr lang="en-US" sz="7200" b="1" i="0" dirty="0">
                <a:solidFill>
                  <a:srgbClr val="15458C"/>
                </a:solidFill>
                <a:effectLst/>
                <a:latin typeface="Times New Roman" panose="02020603050405020304" pitchFamily="18" charset="0"/>
                <a:cs typeface="Times New Roman" panose="02020603050405020304" pitchFamily="18" charset="0"/>
              </a:rPr>
              <a:t> dung </a:t>
            </a:r>
            <a:r>
              <a:rPr lang="en-US" sz="7200" b="1" i="0" dirty="0" err="1">
                <a:solidFill>
                  <a:srgbClr val="15458C"/>
                </a:solidFill>
                <a:effectLst/>
                <a:latin typeface="Times New Roman" panose="02020603050405020304" pitchFamily="18" charset="0"/>
                <a:cs typeface="Times New Roman" panose="02020603050405020304" pitchFamily="18" charset="0"/>
              </a:rPr>
              <a:t>trình</a:t>
            </a:r>
            <a:r>
              <a:rPr lang="en-US" sz="7200" b="1" i="0" dirty="0">
                <a:solidFill>
                  <a:srgbClr val="15458C"/>
                </a:solidFill>
                <a:effectLst/>
                <a:latin typeface="Times New Roman" panose="02020603050405020304" pitchFamily="18" charset="0"/>
                <a:cs typeface="Times New Roman" panose="02020603050405020304" pitchFamily="18" charset="0"/>
              </a:rPr>
              <a:t> </a:t>
            </a:r>
            <a:r>
              <a:rPr lang="en-US" sz="7200" b="1" i="0" dirty="0" err="1">
                <a:solidFill>
                  <a:srgbClr val="15458C"/>
                </a:solidFill>
                <a:effectLst/>
                <a:latin typeface="Times New Roman" panose="02020603050405020304" pitchFamily="18" charset="0"/>
                <a:cs typeface="Times New Roman" panose="02020603050405020304" pitchFamily="18" charset="0"/>
              </a:rPr>
              <a:t>bày</a:t>
            </a:r>
            <a:endParaRPr lang="en-US" sz="7200" b="1" i="0" dirty="0">
              <a:solidFill>
                <a:srgbClr val="15458C"/>
              </a:solidFill>
              <a:effectLst/>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F51B509A-42A9-CCDA-85B4-9D3E24D51697}"/>
              </a:ext>
            </a:extLst>
          </p:cNvPr>
          <p:cNvCxnSpPr>
            <a:cxnSpLocks/>
          </p:cNvCxnSpPr>
          <p:nvPr/>
        </p:nvCxnSpPr>
        <p:spPr>
          <a:xfrm>
            <a:off x="10021244" y="3954542"/>
            <a:ext cx="6840000" cy="0"/>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93C4402-1A43-2684-F794-F0C9B7E75739}"/>
              </a:ext>
            </a:extLst>
          </p:cNvPr>
          <p:cNvCxnSpPr>
            <a:cxnSpLocks/>
          </p:cNvCxnSpPr>
          <p:nvPr/>
        </p:nvCxnSpPr>
        <p:spPr>
          <a:xfrm>
            <a:off x="1066800" y="3981278"/>
            <a:ext cx="6840000" cy="0"/>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C58181F-5DC9-6F3E-E07E-05B5D7A212EF}"/>
              </a:ext>
            </a:extLst>
          </p:cNvPr>
          <p:cNvSpPr txBox="1"/>
          <p:nvPr/>
        </p:nvSpPr>
        <p:spPr>
          <a:xfrm>
            <a:off x="1161757" y="4100856"/>
            <a:ext cx="6934200" cy="1338315"/>
          </a:xfrm>
          <a:prstGeom prst="rect">
            <a:avLst/>
          </a:prstGeom>
          <a:noFill/>
        </p:spPr>
        <p:txBody>
          <a:bodyPr wrap="square" rtlCol="0">
            <a:spAutoFit/>
          </a:bodyPr>
          <a:lstStyle/>
          <a:p>
            <a:pPr algn="l"/>
            <a:r>
              <a:rPr lang="en-US" sz="4400" b="1" i="0" dirty="0" err="1">
                <a:solidFill>
                  <a:srgbClr val="15458C"/>
                </a:solidFill>
                <a:effectLst/>
                <a:latin typeface="Times New Roman" panose="02020603050405020304" pitchFamily="18" charset="0"/>
                <a:cs typeface="Times New Roman" panose="02020603050405020304" pitchFamily="18" charset="0"/>
              </a:rPr>
              <a:t>Tổng</a:t>
            </a:r>
            <a:r>
              <a:rPr lang="en-US" sz="4400" b="1" i="0" dirty="0">
                <a:solidFill>
                  <a:srgbClr val="15458C"/>
                </a:solidFill>
                <a:effectLst/>
                <a:latin typeface="Times New Roman" panose="02020603050405020304" pitchFamily="18" charset="0"/>
                <a:cs typeface="Times New Roman" panose="02020603050405020304" pitchFamily="18" charset="0"/>
              </a:rPr>
              <a:t> </a:t>
            </a:r>
            <a:r>
              <a:rPr lang="en-US" sz="4400" b="1" i="0" dirty="0" err="1">
                <a:solidFill>
                  <a:srgbClr val="15458C"/>
                </a:solidFill>
                <a:effectLst/>
                <a:latin typeface="Times New Roman" panose="02020603050405020304" pitchFamily="18" charset="0"/>
                <a:cs typeface="Times New Roman" panose="02020603050405020304" pitchFamily="18" charset="0"/>
              </a:rPr>
              <a:t>quan</a:t>
            </a:r>
            <a:r>
              <a:rPr lang="en-US" sz="4400" b="1" i="0" dirty="0">
                <a:solidFill>
                  <a:srgbClr val="15458C"/>
                </a:solidFill>
                <a:effectLst/>
                <a:latin typeface="Times New Roman" panose="02020603050405020304" pitchFamily="18" charset="0"/>
                <a:cs typeface="Times New Roman" panose="02020603050405020304" pitchFamily="18" charset="0"/>
              </a:rPr>
              <a:t> </a:t>
            </a:r>
            <a:r>
              <a:rPr lang="en-US" sz="4400" b="1" i="0" dirty="0" err="1">
                <a:solidFill>
                  <a:srgbClr val="15458C"/>
                </a:solidFill>
                <a:effectLst/>
                <a:latin typeface="Times New Roman" panose="02020603050405020304" pitchFamily="18" charset="0"/>
                <a:cs typeface="Times New Roman" panose="02020603050405020304" pitchFamily="18" charset="0"/>
              </a:rPr>
              <a:t>đề</a:t>
            </a:r>
            <a:r>
              <a:rPr lang="en-US" sz="4400" b="1" i="0" dirty="0">
                <a:solidFill>
                  <a:srgbClr val="15458C"/>
                </a:solidFill>
                <a:effectLst/>
                <a:latin typeface="Times New Roman" panose="02020603050405020304" pitchFamily="18" charset="0"/>
                <a:cs typeface="Times New Roman" panose="02020603050405020304" pitchFamily="18" charset="0"/>
              </a:rPr>
              <a:t> </a:t>
            </a:r>
            <a:r>
              <a:rPr lang="en-US" sz="4400" b="1" i="0" dirty="0" err="1">
                <a:solidFill>
                  <a:srgbClr val="15458C"/>
                </a:solidFill>
                <a:effectLst/>
                <a:latin typeface="Times New Roman" panose="02020603050405020304" pitchFamily="18" charset="0"/>
                <a:cs typeface="Times New Roman" panose="02020603050405020304" pitchFamily="18" charset="0"/>
              </a:rPr>
              <a:t>tài</a:t>
            </a:r>
            <a:endParaRPr lang="en-US" sz="4400" b="1" i="0" dirty="0">
              <a:solidFill>
                <a:srgbClr val="15458C"/>
              </a:solidFill>
              <a:effectLst/>
              <a:latin typeface="Times New Roman" panose="02020603050405020304" pitchFamily="18" charset="0"/>
              <a:cs typeface="Times New Roman" panose="02020603050405020304" pitchFamily="18" charset="0"/>
            </a:endParaRPr>
          </a:p>
          <a:p>
            <a:pPr algn="l">
              <a:lnSpc>
                <a:spcPct val="150000"/>
              </a:lnSpc>
            </a:pPr>
            <a:r>
              <a:rPr lang="en-US" sz="2800" b="0" i="0" dirty="0" err="1">
                <a:solidFill>
                  <a:srgbClr val="000000"/>
                </a:solidFill>
                <a:effectLst/>
                <a:latin typeface="Times New Roman" panose="02020603050405020304" pitchFamily="18" charset="0"/>
                <a:cs typeface="Times New Roman" panose="02020603050405020304" pitchFamily="18" charset="0"/>
              </a:rPr>
              <a:t>Lý</a:t>
            </a:r>
            <a:r>
              <a:rPr lang="en-US" sz="2800" b="0" i="0" dirty="0">
                <a:solidFill>
                  <a:srgbClr val="000000"/>
                </a:solidFill>
                <a:effectLst/>
                <a:latin typeface="Times New Roman" panose="02020603050405020304" pitchFamily="18" charset="0"/>
                <a:cs typeface="Times New Roman" panose="02020603050405020304" pitchFamily="18" charset="0"/>
              </a:rPr>
              <a:t> do, </a:t>
            </a:r>
            <a:r>
              <a:rPr lang="en-US" sz="2800" b="0" i="0" dirty="0" err="1">
                <a:solidFill>
                  <a:srgbClr val="000000"/>
                </a:solidFill>
                <a:effectLst/>
                <a:latin typeface="Times New Roman" panose="02020603050405020304" pitchFamily="18" charset="0"/>
                <a:cs typeface="Times New Roman" panose="02020603050405020304" pitchFamily="18" charset="0"/>
              </a:rPr>
              <a:t>mục</a:t>
            </a: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err="1">
                <a:solidFill>
                  <a:srgbClr val="000000"/>
                </a:solidFill>
                <a:effectLst/>
                <a:latin typeface="Times New Roman" panose="02020603050405020304" pitchFamily="18" charset="0"/>
                <a:cs typeface="Times New Roman" panose="02020603050405020304" pitchFamily="18" charset="0"/>
              </a:rPr>
              <a:t>tiêu</a:t>
            </a: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err="1">
                <a:solidFill>
                  <a:srgbClr val="000000"/>
                </a:solidFill>
                <a:effectLst/>
                <a:latin typeface="Times New Roman" panose="02020603050405020304" pitchFamily="18" charset="0"/>
                <a:cs typeface="Times New Roman" panose="02020603050405020304" pitchFamily="18" charset="0"/>
              </a:rPr>
              <a:t>công</a:t>
            </a: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err="1">
                <a:solidFill>
                  <a:srgbClr val="000000"/>
                </a:solidFill>
                <a:effectLst/>
                <a:latin typeface="Times New Roman" panose="02020603050405020304" pitchFamily="18" charset="0"/>
                <a:cs typeface="Times New Roman" panose="02020603050405020304" pitchFamily="18" charset="0"/>
              </a:rPr>
              <a:t>nghệ</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0C8228A-CC8F-AB38-9BF0-3DD9C2BC2654}"/>
              </a:ext>
            </a:extLst>
          </p:cNvPr>
          <p:cNvSpPr txBox="1"/>
          <p:nvPr/>
        </p:nvSpPr>
        <p:spPr>
          <a:xfrm>
            <a:off x="1209907" y="3343483"/>
            <a:ext cx="3276600" cy="584775"/>
          </a:xfrm>
          <a:prstGeom prst="rect">
            <a:avLst/>
          </a:prstGeom>
          <a:noFill/>
        </p:spPr>
        <p:txBody>
          <a:bodyPr wrap="square" rtlCol="0">
            <a:spAutoFit/>
          </a:bodyPr>
          <a:lstStyle/>
          <a:p>
            <a:r>
              <a:rPr lang="en-VN" sz="3200" b="1" dirty="0">
                <a:solidFill>
                  <a:schemeClr val="accent6"/>
                </a:solidFill>
                <a:latin typeface="Times New Roman" panose="02020603050405020304" pitchFamily="18" charset="0"/>
                <a:cs typeface="Times New Roman" panose="02020603050405020304" pitchFamily="18" charset="0"/>
              </a:rPr>
              <a:t>01</a:t>
            </a:r>
          </a:p>
        </p:txBody>
      </p:sp>
      <p:sp>
        <p:nvSpPr>
          <p:cNvPr id="19" name="TextBox 18">
            <a:extLst>
              <a:ext uri="{FF2B5EF4-FFF2-40B4-BE49-F238E27FC236}">
                <a16:creationId xmlns:a16="http://schemas.microsoft.com/office/drawing/2014/main" id="{823E05FC-C0C4-3EFB-1AD2-D1FC0B0232B0}"/>
              </a:ext>
            </a:extLst>
          </p:cNvPr>
          <p:cNvSpPr txBox="1"/>
          <p:nvPr/>
        </p:nvSpPr>
        <p:spPr>
          <a:xfrm>
            <a:off x="10010093" y="3284517"/>
            <a:ext cx="3770956" cy="584775"/>
          </a:xfrm>
          <a:prstGeom prst="rect">
            <a:avLst/>
          </a:prstGeom>
          <a:noFill/>
        </p:spPr>
        <p:txBody>
          <a:bodyPr wrap="square" rtlCol="0">
            <a:spAutoFit/>
          </a:bodyPr>
          <a:lstStyle/>
          <a:p>
            <a:r>
              <a:rPr lang="en-VN" sz="3200" b="1" dirty="0">
                <a:solidFill>
                  <a:schemeClr val="accent6"/>
                </a:solidFill>
                <a:latin typeface="Times New Roman" panose="02020603050405020304" pitchFamily="18" charset="0"/>
                <a:cs typeface="Times New Roman" panose="02020603050405020304" pitchFamily="18" charset="0"/>
              </a:rPr>
              <a:t>02</a:t>
            </a:r>
            <a:endParaRPr lang="en-VN" sz="3200" b="1" dirty="0">
              <a:solidFill>
                <a:schemeClr val="accent6"/>
              </a:solidFill>
            </a:endParaRPr>
          </a:p>
        </p:txBody>
      </p:sp>
      <p:sp>
        <p:nvSpPr>
          <p:cNvPr id="20" name="TextBox 19">
            <a:extLst>
              <a:ext uri="{FF2B5EF4-FFF2-40B4-BE49-F238E27FC236}">
                <a16:creationId xmlns:a16="http://schemas.microsoft.com/office/drawing/2014/main" id="{1CADE141-DD57-5E17-71B5-B46E2DF4FEE0}"/>
              </a:ext>
            </a:extLst>
          </p:cNvPr>
          <p:cNvSpPr txBox="1"/>
          <p:nvPr/>
        </p:nvSpPr>
        <p:spPr>
          <a:xfrm>
            <a:off x="9990249" y="3811688"/>
            <a:ext cx="7961956" cy="1600438"/>
          </a:xfrm>
          <a:prstGeom prst="rect">
            <a:avLst/>
          </a:prstGeom>
          <a:noFill/>
        </p:spPr>
        <p:txBody>
          <a:bodyPr wrap="square" rtlCol="0">
            <a:spAutoFit/>
          </a:bodyPr>
          <a:lstStyle/>
          <a:p>
            <a:pPr algn="l">
              <a:lnSpc>
                <a:spcPct val="150000"/>
              </a:lnSpc>
            </a:pPr>
            <a:r>
              <a:rPr lang="en-US" sz="4400" b="1" i="0" dirty="0" err="1">
                <a:solidFill>
                  <a:srgbClr val="15458C"/>
                </a:solidFill>
                <a:effectLst/>
                <a:latin typeface="Times New Roman" panose="02020603050405020304" pitchFamily="18" charset="0"/>
                <a:cs typeface="Times New Roman" panose="02020603050405020304" pitchFamily="18" charset="0"/>
              </a:rPr>
              <a:t>Thực</a:t>
            </a:r>
            <a:r>
              <a:rPr lang="en-US" sz="4400" b="1" i="0" dirty="0">
                <a:solidFill>
                  <a:srgbClr val="15458C"/>
                </a:solidFill>
                <a:effectLst/>
                <a:latin typeface="Times New Roman" panose="02020603050405020304" pitchFamily="18" charset="0"/>
                <a:cs typeface="Times New Roman" panose="02020603050405020304" pitchFamily="18" charset="0"/>
              </a:rPr>
              <a:t> </a:t>
            </a:r>
            <a:r>
              <a:rPr lang="en-US" sz="4400" b="1" i="0" dirty="0" err="1">
                <a:solidFill>
                  <a:srgbClr val="15458C"/>
                </a:solidFill>
                <a:effectLst/>
                <a:latin typeface="Times New Roman" panose="02020603050405020304" pitchFamily="18" charset="0"/>
                <a:cs typeface="Times New Roman" panose="02020603050405020304" pitchFamily="18" charset="0"/>
              </a:rPr>
              <a:t>nghiệm</a:t>
            </a:r>
            <a:endParaRPr lang="en-US" sz="4400" b="1" i="0" dirty="0">
              <a:solidFill>
                <a:srgbClr val="15458C"/>
              </a:solidFill>
              <a:effectLst/>
              <a:latin typeface="Times New Roman" panose="02020603050405020304" pitchFamily="18" charset="0"/>
              <a:cs typeface="Times New Roman" panose="02020603050405020304" pitchFamily="18" charset="0"/>
            </a:endParaRPr>
          </a:p>
          <a:p>
            <a:pPr algn="l"/>
            <a:r>
              <a:rPr lang="en-US" sz="3200" b="0" i="0" dirty="0">
                <a:solidFill>
                  <a:srgbClr val="000000"/>
                </a:solidFill>
                <a:effectLst/>
                <a:latin typeface="Times New Roman" panose="02020603050405020304" pitchFamily="18" charset="0"/>
                <a:cs typeface="Times New Roman" panose="02020603050405020304" pitchFamily="18" charset="0"/>
              </a:rPr>
              <a:t>Demo 3 </a:t>
            </a:r>
            <a:r>
              <a:rPr lang="en-US" sz="3200" b="0" i="0" dirty="0" err="1">
                <a:solidFill>
                  <a:srgbClr val="000000"/>
                </a:solidFill>
                <a:effectLst/>
                <a:latin typeface="Times New Roman" panose="02020603050405020304" pitchFamily="18" charset="0"/>
                <a:cs typeface="Times New Roman" panose="02020603050405020304" pitchFamily="18" charset="0"/>
              </a:rPr>
              <a:t>phân</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hệ</a:t>
            </a:r>
            <a:r>
              <a:rPr lang="en-US" sz="3200" b="0" i="0" dirty="0">
                <a:solidFill>
                  <a:srgbClr val="000000"/>
                </a:solidFill>
                <a:effectLst/>
                <a:latin typeface="Times New Roman" panose="02020603050405020304" pitchFamily="18" charset="0"/>
                <a:cs typeface="Times New Roman" panose="02020603050405020304" pitchFamily="18" charset="0"/>
              </a:rPr>
              <a:t>: User – Restaurant – Shipper</a:t>
            </a:r>
          </a:p>
        </p:txBody>
      </p:sp>
      <p:cxnSp>
        <p:nvCxnSpPr>
          <p:cNvPr id="24" name="Straight Connector 23">
            <a:extLst>
              <a:ext uri="{FF2B5EF4-FFF2-40B4-BE49-F238E27FC236}">
                <a16:creationId xmlns:a16="http://schemas.microsoft.com/office/drawing/2014/main" id="{9C218392-9DB9-2C64-658F-0A0ECCC8D2BB}"/>
              </a:ext>
            </a:extLst>
          </p:cNvPr>
          <p:cNvCxnSpPr>
            <a:cxnSpLocks/>
          </p:cNvCxnSpPr>
          <p:nvPr/>
        </p:nvCxnSpPr>
        <p:spPr>
          <a:xfrm>
            <a:off x="1208857" y="6591300"/>
            <a:ext cx="6840000" cy="0"/>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2894493-5502-8C98-4FEE-B2450F01C27C}"/>
              </a:ext>
            </a:extLst>
          </p:cNvPr>
          <p:cNvSpPr txBox="1"/>
          <p:nvPr/>
        </p:nvSpPr>
        <p:spPr>
          <a:xfrm>
            <a:off x="1161757" y="5904156"/>
            <a:ext cx="3276600" cy="584775"/>
          </a:xfrm>
          <a:prstGeom prst="rect">
            <a:avLst/>
          </a:prstGeom>
          <a:noFill/>
        </p:spPr>
        <p:txBody>
          <a:bodyPr wrap="square" rtlCol="0">
            <a:spAutoFit/>
          </a:bodyPr>
          <a:lstStyle/>
          <a:p>
            <a:r>
              <a:rPr lang="en-VN" sz="3200" b="1" dirty="0">
                <a:solidFill>
                  <a:schemeClr val="accent6"/>
                </a:solidFill>
                <a:latin typeface="Times New Roman" panose="02020603050405020304" pitchFamily="18" charset="0"/>
                <a:cs typeface="Times New Roman" panose="02020603050405020304" pitchFamily="18" charset="0"/>
              </a:rPr>
              <a:t>03</a:t>
            </a:r>
          </a:p>
        </p:txBody>
      </p:sp>
      <p:sp>
        <p:nvSpPr>
          <p:cNvPr id="28" name="TextBox 27">
            <a:extLst>
              <a:ext uri="{FF2B5EF4-FFF2-40B4-BE49-F238E27FC236}">
                <a16:creationId xmlns:a16="http://schemas.microsoft.com/office/drawing/2014/main" id="{1FF4631D-DE5E-4ED5-1301-89B2C12E8974}"/>
              </a:ext>
            </a:extLst>
          </p:cNvPr>
          <p:cNvSpPr txBox="1"/>
          <p:nvPr/>
        </p:nvSpPr>
        <p:spPr>
          <a:xfrm>
            <a:off x="1208857" y="6591300"/>
            <a:ext cx="6934200" cy="1600438"/>
          </a:xfrm>
          <a:prstGeom prst="rect">
            <a:avLst/>
          </a:prstGeom>
          <a:noFill/>
        </p:spPr>
        <p:txBody>
          <a:bodyPr wrap="square" rtlCol="0">
            <a:spAutoFit/>
          </a:bodyPr>
          <a:lstStyle/>
          <a:p>
            <a:pPr algn="l">
              <a:lnSpc>
                <a:spcPct val="150000"/>
              </a:lnSpc>
            </a:pPr>
            <a:r>
              <a:rPr lang="vi-VN" sz="4400" b="1" i="0" dirty="0">
                <a:solidFill>
                  <a:srgbClr val="15458C"/>
                </a:solidFill>
                <a:effectLst/>
                <a:latin typeface="+mj-lt"/>
              </a:rPr>
              <a:t>Kết quả đạt được</a:t>
            </a:r>
          </a:p>
          <a:p>
            <a:pPr algn="l"/>
            <a:r>
              <a:rPr lang="en-US" sz="3200" b="0" i="0" dirty="0" err="1">
                <a:solidFill>
                  <a:srgbClr val="000000"/>
                </a:solidFill>
                <a:effectLst/>
                <a:latin typeface="Times New Roman" panose="02020603050405020304" pitchFamily="18" charset="0"/>
                <a:cs typeface="Times New Roman" panose="02020603050405020304" pitchFamily="18" charset="0"/>
              </a:rPr>
              <a:t>Sản</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phẩm</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hoàn</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thành</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kiểm</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err="1">
                <a:solidFill>
                  <a:srgbClr val="000000"/>
                </a:solidFill>
                <a:effectLst/>
                <a:latin typeface="Times New Roman" panose="02020603050405020304" pitchFamily="18" charset="0"/>
                <a:cs typeface="Times New Roman" panose="02020603050405020304" pitchFamily="18" charset="0"/>
              </a:rPr>
              <a:t>thử</a:t>
            </a:r>
            <a:endParaRPr lang="en-US" sz="3200" b="0" i="0" dirty="0">
              <a:solidFill>
                <a:srgbClr val="000000"/>
              </a:solidFill>
              <a:effectLst/>
              <a:latin typeface="Times New Roman" panose="02020603050405020304" pitchFamily="18"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5FC6A22D-9CC9-C004-4D11-E8D6FBDE16B6}"/>
              </a:ext>
            </a:extLst>
          </p:cNvPr>
          <p:cNvCxnSpPr>
            <a:cxnSpLocks/>
          </p:cNvCxnSpPr>
          <p:nvPr/>
        </p:nvCxnSpPr>
        <p:spPr>
          <a:xfrm>
            <a:off x="9990249" y="6591300"/>
            <a:ext cx="6840000" cy="0"/>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7DF7CC7-F3DD-4B23-E95B-8D307C8382AC}"/>
              </a:ext>
            </a:extLst>
          </p:cNvPr>
          <p:cNvSpPr txBox="1"/>
          <p:nvPr/>
        </p:nvSpPr>
        <p:spPr>
          <a:xfrm>
            <a:off x="9990249" y="5848530"/>
            <a:ext cx="3276600" cy="584775"/>
          </a:xfrm>
          <a:prstGeom prst="rect">
            <a:avLst/>
          </a:prstGeom>
          <a:noFill/>
        </p:spPr>
        <p:txBody>
          <a:bodyPr wrap="square" rtlCol="0">
            <a:spAutoFit/>
          </a:bodyPr>
          <a:lstStyle/>
          <a:p>
            <a:r>
              <a:rPr lang="en-VN" sz="3200" b="1" dirty="0">
                <a:solidFill>
                  <a:schemeClr val="accent6"/>
                </a:solidFill>
                <a:latin typeface="Times New Roman" panose="02020603050405020304" pitchFamily="18" charset="0"/>
                <a:cs typeface="Times New Roman" panose="02020603050405020304" pitchFamily="18" charset="0"/>
              </a:rPr>
              <a:t>04</a:t>
            </a:r>
          </a:p>
        </p:txBody>
      </p:sp>
      <p:sp>
        <p:nvSpPr>
          <p:cNvPr id="32" name="TextBox 31">
            <a:extLst>
              <a:ext uri="{FF2B5EF4-FFF2-40B4-BE49-F238E27FC236}">
                <a16:creationId xmlns:a16="http://schemas.microsoft.com/office/drawing/2014/main" id="{DC6FF43C-4337-9C78-766B-AD3DEC0B607E}"/>
              </a:ext>
            </a:extLst>
          </p:cNvPr>
          <p:cNvSpPr txBox="1"/>
          <p:nvPr/>
        </p:nvSpPr>
        <p:spPr>
          <a:xfrm>
            <a:off x="9927044" y="6591300"/>
            <a:ext cx="6934200" cy="1661993"/>
          </a:xfrm>
          <a:prstGeom prst="rect">
            <a:avLst/>
          </a:prstGeom>
          <a:noFill/>
        </p:spPr>
        <p:txBody>
          <a:bodyPr wrap="square" rtlCol="0">
            <a:spAutoFit/>
          </a:bodyPr>
          <a:lstStyle/>
          <a:p>
            <a:pPr algn="l">
              <a:lnSpc>
                <a:spcPct val="150000"/>
              </a:lnSpc>
            </a:pPr>
            <a:r>
              <a:rPr lang="vi-VN" sz="4400" b="1" i="0" dirty="0">
                <a:solidFill>
                  <a:srgbClr val="15458C"/>
                </a:solidFill>
                <a:effectLst/>
                <a:latin typeface="+mj-lt"/>
              </a:rPr>
              <a:t>Hướng phát triển</a:t>
            </a:r>
          </a:p>
          <a:p>
            <a:pPr algn="l"/>
            <a:r>
              <a:rPr lang="vi-VN" sz="3600" b="0" i="0" dirty="0">
                <a:solidFill>
                  <a:srgbClr val="000000"/>
                </a:solidFill>
                <a:effectLst/>
                <a:latin typeface="Times New Roman" panose="02020603050405020304" pitchFamily="18" charset="0"/>
                <a:cs typeface="Times New Roman" panose="02020603050405020304" pitchFamily="18" charset="0"/>
              </a:rPr>
              <a:t>Tính năng mở rộng trong tương lai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762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3" name="Group 3"/>
          <p:cNvGrpSpPr/>
          <p:nvPr/>
        </p:nvGrpSpPr>
        <p:grpSpPr>
          <a:xfrm>
            <a:off x="1127553" y="1902016"/>
            <a:ext cx="853655" cy="972116"/>
            <a:chOff x="0" y="-205478"/>
            <a:chExt cx="1371600" cy="161517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sz="4800"/>
            </a:p>
          </p:txBody>
        </p:sp>
        <p:sp>
          <p:nvSpPr>
            <p:cNvPr id="5" name="TextBox 5"/>
            <p:cNvSpPr txBox="1"/>
            <p:nvPr/>
          </p:nvSpPr>
          <p:spPr>
            <a:xfrm>
              <a:off x="76" y="-205478"/>
              <a:ext cx="1371524" cy="1428709"/>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400" b="1" dirty="0">
                  <a:solidFill>
                    <a:srgbClr val="FFFFFF"/>
                  </a:solidFill>
                  <a:latin typeface="Cambria" panose="02040503050406030204" pitchFamily="18" charset="0"/>
                  <a:ea typeface="Cambria" panose="02040503050406030204" pitchFamily="18" charset="0"/>
                  <a:cs typeface="Cambria Bold"/>
                  <a:sym typeface="Cambria Bold"/>
                </a:rPr>
                <a:t>1</a:t>
              </a:r>
            </a:p>
          </p:txBody>
        </p:sp>
      </p:grpSp>
      <p:sp>
        <p:nvSpPr>
          <p:cNvPr id="6" name="TextBox 6"/>
          <p:cNvSpPr txBox="1"/>
          <p:nvPr/>
        </p:nvSpPr>
        <p:spPr>
          <a:xfrm>
            <a:off x="2333243" y="1902016"/>
            <a:ext cx="7438557" cy="984629"/>
          </a:xfrm>
          <a:prstGeom prst="rect">
            <a:avLst/>
          </a:prstGeom>
        </p:spPr>
        <p:txBody>
          <a:bodyPr lIns="0" tIns="0" rIns="0" bIns="0" rtlCol="0" anchor="t">
            <a:spAutoFit/>
          </a:bodyPr>
          <a:lstStyle/>
          <a:p>
            <a:pPr algn="l">
              <a:lnSpc>
                <a:spcPts val="8640"/>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Tổng</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quan</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đề</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tài</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cxnSp>
        <p:nvCxnSpPr>
          <p:cNvPr id="10" name="Straight Connector 9">
            <a:extLst>
              <a:ext uri="{FF2B5EF4-FFF2-40B4-BE49-F238E27FC236}">
                <a16:creationId xmlns:a16="http://schemas.microsoft.com/office/drawing/2014/main" id="{CA672E5A-0621-C8A7-C4FD-953F9986D6D7}"/>
              </a:ext>
            </a:extLst>
          </p:cNvPr>
          <p:cNvCxnSpPr>
            <a:cxnSpLocks/>
          </p:cNvCxnSpPr>
          <p:nvPr/>
        </p:nvCxnSpPr>
        <p:spPr>
          <a:xfrm flipH="1">
            <a:off x="1905000" y="3923445"/>
            <a:ext cx="525780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0ABDA-DCB3-11E0-6098-594D83463C49}"/>
              </a:ext>
            </a:extLst>
          </p:cNvPr>
          <p:cNvSpPr txBox="1"/>
          <p:nvPr/>
        </p:nvSpPr>
        <p:spPr>
          <a:xfrm>
            <a:off x="577433" y="4276698"/>
            <a:ext cx="7575968" cy="5149871"/>
          </a:xfrm>
          <a:prstGeom prst="rect">
            <a:avLst/>
          </a:prstGeom>
          <a:noFill/>
        </p:spPr>
        <p:txBody>
          <a:bodyPr wrap="square" rtlCol="0">
            <a:spAutoFit/>
          </a:bodyPr>
          <a:lstStyle/>
          <a:p>
            <a:pPr marL="571500" indent="-571500" algn="just">
              <a:lnSpc>
                <a:spcPct val="130000"/>
              </a:lnSpc>
              <a:buSzPct val="100000"/>
              <a:buFont typeface="Wingdings" panose="05000000000000000000" pitchFamily="2" charset="2"/>
              <a:buChar char="ü"/>
            </a:pP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Thị</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trường</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giao</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đồ</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ăn</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trực</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tuyến</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ở</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Việt</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Nam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tăng</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trưởng</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 </a:t>
            </a:r>
            <a:r>
              <a:rPr lang="en-US" sz="3200" dirty="0" err="1">
                <a:solidFill>
                  <a:srgbClr val="1E293B"/>
                </a:solidFill>
                <a:latin typeface="Times New Roman" panose="02020603050405020304" pitchFamily="18" charset="0"/>
                <a:ea typeface="Cambria" panose="02040503050406030204" pitchFamily="18" charset="0"/>
                <a:cs typeface="Times New Roman" panose="02020603050405020304" pitchFamily="18" charset="0"/>
              </a:rPr>
              <a:t>mạnh</a:t>
            </a:r>
            <a:r>
              <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rPr>
              <a:t>.</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a:p>
            <a:pPr marL="571500" indent="-571500">
              <a:lnSpc>
                <a:spcPct val="130000"/>
              </a:lnSpc>
              <a:buSzPct val="100000"/>
              <a:buFont typeface="Wingdings" panose="05000000000000000000" pitchFamily="2" charset="2"/>
              <a:buChar char="ü"/>
            </a:pPr>
            <a:r>
              <a:rPr lang="vi-VN" sz="3200" dirty="0">
                <a:latin typeface="Times New Roman" panose="02020603050405020304" pitchFamily="18" charset="0"/>
                <a:cs typeface="Times New Roman" panose="02020603050405020304" pitchFamily="18" charset="0"/>
              </a:rPr>
              <a:t>GrabFood &amp; ShopeeFood chiếm ~48% thị phần mỗi bên → thị trường vẫn còn tiềm năng phát triển.</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a:p>
            <a:pPr marL="571500" indent="-571500" algn="just">
              <a:lnSpc>
                <a:spcPct val="130000"/>
              </a:lnSpc>
              <a:buSzPct val="100000"/>
              <a:buFont typeface="Wingdings" panose="05000000000000000000" pitchFamily="2" charset="2"/>
              <a:buChar char="ü"/>
            </a:pPr>
            <a:r>
              <a:rPr lang="vi-VN" sz="3200" b="0" i="0" u="none" strike="noStrike" dirty="0">
                <a:solidFill>
                  <a:srgbClr val="000000"/>
                </a:solidFill>
                <a:effectLst/>
                <a:latin typeface="Times New Roman" panose="02020603050405020304" pitchFamily="18" charset="0"/>
                <a:cs typeface="Times New Roman" panose="02020603050405020304" pitchFamily="18" charset="0"/>
              </a:rPr>
              <a:t>Nhu cầu xây dựng ứng dụng tích hợp nhiều công nghệ hiện đại: realtime, bản đồ, xác thực, đa phân hệ.</a:t>
            </a:r>
            <a:endPar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2F4625D-A05D-32CB-2E0B-733AA6C89CAC}"/>
              </a:ext>
            </a:extLst>
          </p:cNvPr>
          <p:cNvSpPr txBox="1"/>
          <p:nvPr/>
        </p:nvSpPr>
        <p:spPr>
          <a:xfrm>
            <a:off x="2499495" y="3237645"/>
            <a:ext cx="3566317" cy="600164"/>
          </a:xfrm>
          <a:prstGeom prst="rect">
            <a:avLst/>
          </a:prstGeom>
          <a:noFill/>
        </p:spPr>
        <p:txBody>
          <a:bodyPr wrap="square" rtlCol="0">
            <a:spAutoFit/>
          </a:bodyPr>
          <a:lstStyle/>
          <a:p>
            <a:pPr algn="just"/>
            <a:r>
              <a:rPr lang="en-US" sz="3300" b="1" dirty="0" err="1">
                <a:solidFill>
                  <a:schemeClr val="accent1">
                    <a:lumMod val="50000"/>
                  </a:schemeClr>
                </a:solidFill>
                <a:latin typeface="Cambria" panose="02040503050406030204" pitchFamily="18" charset="0"/>
                <a:ea typeface="Cambria" panose="02040503050406030204" pitchFamily="18" charset="0"/>
              </a:rPr>
              <a:t>Lý</a:t>
            </a:r>
            <a:r>
              <a:rPr lang="en-US" sz="3300" b="1" dirty="0">
                <a:solidFill>
                  <a:schemeClr val="accent1">
                    <a:lumMod val="50000"/>
                  </a:schemeClr>
                </a:solidFill>
                <a:latin typeface="Cambria" panose="02040503050406030204" pitchFamily="18" charset="0"/>
                <a:ea typeface="Cambria" panose="02040503050406030204" pitchFamily="18" charset="0"/>
              </a:rPr>
              <a:t> do </a:t>
            </a:r>
            <a:r>
              <a:rPr lang="en-US" sz="3300" b="1" dirty="0" err="1">
                <a:solidFill>
                  <a:schemeClr val="accent1">
                    <a:lumMod val="50000"/>
                  </a:schemeClr>
                </a:solidFill>
                <a:latin typeface="Cambria" panose="02040503050406030204" pitchFamily="18" charset="0"/>
                <a:ea typeface="Cambria" panose="02040503050406030204" pitchFamily="18" charset="0"/>
              </a:rPr>
              <a:t>chọn</a:t>
            </a:r>
            <a:r>
              <a:rPr lang="en-US" sz="3300" b="1" dirty="0">
                <a:solidFill>
                  <a:schemeClr val="accent1">
                    <a:lumMod val="50000"/>
                  </a:schemeClr>
                </a:solidFill>
                <a:latin typeface="Cambria" panose="02040503050406030204" pitchFamily="18" charset="0"/>
                <a:ea typeface="Cambria" panose="02040503050406030204" pitchFamily="18" charset="0"/>
              </a:rPr>
              <a:t> </a:t>
            </a:r>
            <a:r>
              <a:rPr lang="en-US" sz="3300" b="1" dirty="0" err="1">
                <a:solidFill>
                  <a:schemeClr val="accent1">
                    <a:lumMod val="50000"/>
                  </a:schemeClr>
                </a:solidFill>
                <a:latin typeface="Cambria" panose="02040503050406030204" pitchFamily="18" charset="0"/>
                <a:ea typeface="Cambria" panose="02040503050406030204" pitchFamily="18" charset="0"/>
              </a:rPr>
              <a:t>đề</a:t>
            </a:r>
            <a:r>
              <a:rPr lang="en-US" sz="3300" b="1" dirty="0">
                <a:solidFill>
                  <a:schemeClr val="accent1">
                    <a:lumMod val="50000"/>
                  </a:schemeClr>
                </a:solidFill>
                <a:latin typeface="Cambria" panose="02040503050406030204" pitchFamily="18" charset="0"/>
                <a:ea typeface="Cambria" panose="02040503050406030204" pitchFamily="18" charset="0"/>
              </a:rPr>
              <a:t> </a:t>
            </a:r>
            <a:r>
              <a:rPr lang="en-US" sz="3300" b="1" dirty="0" err="1">
                <a:solidFill>
                  <a:schemeClr val="accent1">
                    <a:lumMod val="50000"/>
                  </a:schemeClr>
                </a:solidFill>
                <a:latin typeface="Cambria" panose="02040503050406030204" pitchFamily="18" charset="0"/>
                <a:ea typeface="Cambria" panose="02040503050406030204" pitchFamily="18" charset="0"/>
              </a:rPr>
              <a:t>tài</a:t>
            </a:r>
            <a:endParaRPr lang="en-US" sz="3300" b="1" dirty="0">
              <a:solidFill>
                <a:schemeClr val="accent1">
                  <a:lumMod val="50000"/>
                </a:schemeClr>
              </a:solidFill>
              <a:latin typeface="Cambria" panose="02040503050406030204" pitchFamily="18" charset="0"/>
              <a:ea typeface="Cambria" panose="02040503050406030204" pitchFamily="18" charset="0"/>
            </a:endParaRPr>
          </a:p>
        </p:txBody>
      </p:sp>
      <p:cxnSp>
        <p:nvCxnSpPr>
          <p:cNvPr id="19" name="Straight Connector 18">
            <a:extLst>
              <a:ext uri="{FF2B5EF4-FFF2-40B4-BE49-F238E27FC236}">
                <a16:creationId xmlns:a16="http://schemas.microsoft.com/office/drawing/2014/main" id="{7A857AE1-F29A-366E-2190-60377A684F38}"/>
              </a:ext>
            </a:extLst>
          </p:cNvPr>
          <p:cNvCxnSpPr>
            <a:cxnSpLocks/>
          </p:cNvCxnSpPr>
          <p:nvPr/>
        </p:nvCxnSpPr>
        <p:spPr>
          <a:xfrm flipH="1">
            <a:off x="11353800" y="3915825"/>
            <a:ext cx="502920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FB536D0-AEE9-5967-A431-CBF104C7B13B}"/>
              </a:ext>
            </a:extLst>
          </p:cNvPr>
          <p:cNvSpPr txBox="1"/>
          <p:nvPr/>
        </p:nvSpPr>
        <p:spPr>
          <a:xfrm>
            <a:off x="9771800" y="4276697"/>
            <a:ext cx="7671113" cy="4675382"/>
          </a:xfrm>
          <a:prstGeom prst="rect">
            <a:avLst/>
          </a:prstGeom>
          <a:noFill/>
        </p:spPr>
        <p:txBody>
          <a:bodyPr wrap="square" rtlCol="0">
            <a:spAutoFit/>
          </a:bodyPr>
          <a:lstStyle/>
          <a:p>
            <a:pPr marL="571500" indent="-571500" algn="just">
              <a:lnSpc>
                <a:spcPct val="130000"/>
              </a:lnSpc>
              <a:buSzPct val="100000"/>
              <a:buFont typeface="Wingdings" panose="05000000000000000000" pitchFamily="2" charset="2"/>
              <a:buChar char="ü"/>
            </a:pPr>
            <a:r>
              <a:rPr lang="en-US" sz="3200" dirty="0" err="1">
                <a:latin typeface="Times New Roman" panose="02020603050405020304" pitchFamily="18" charset="0"/>
                <a:cs typeface="Times New Roman" panose="02020603050405020304" pitchFamily="18" charset="0"/>
              </a:rPr>
              <a:t>Xây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nền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codebase </a:t>
            </a:r>
            <a:r>
              <a:rPr lang="en-US" sz="3200" dirty="0" err="1">
                <a:latin typeface="Times New Roman" panose="02020603050405020304" pitchFamily="18" charset="0"/>
                <a:cs typeface="Times New Roman" panose="02020603050405020304" pitchFamily="18" charset="0"/>
              </a:rPr>
              <a:t>duy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nhất</a:t>
            </a:r>
            <a:endParaRPr lang="en-US" sz="3200" dirty="0">
              <a:solidFill>
                <a:srgbClr val="1E293B"/>
              </a:solidFill>
              <a:latin typeface="Times New Roman" panose="02020603050405020304" pitchFamily="18" charset="0"/>
              <a:ea typeface="Cambria" panose="02040503050406030204" pitchFamily="18" charset="0"/>
              <a:cs typeface="Times New Roman" panose="02020603050405020304" pitchFamily="18" charset="0"/>
            </a:endParaRPr>
          </a:p>
          <a:p>
            <a:pPr marL="571500" indent="-571500" algn="just">
              <a:lnSpc>
                <a:spcPct val="130000"/>
              </a:lnSpc>
              <a:buSzPct val="100000"/>
              <a:buFont typeface="Wingdings" panose="05000000000000000000" pitchFamily="2" charset="2"/>
              <a:buChar char="ü"/>
            </a:pPr>
            <a:r>
              <a:rPr lang="vi-VN" sz="3200" dirty="0">
                <a:latin typeface="Times New Roman" panose="02020603050405020304" pitchFamily="18" charset="0"/>
                <a:cs typeface="Times New Roman" panose="02020603050405020304" pitchFamily="18" charset="0"/>
              </a:rPr>
              <a:t>Phát triển 3 phân hệ: Người dùng – Nhà hàng – Tài xế</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a:p>
            <a:pPr marL="571500" indent="-571500" algn="just">
              <a:lnSpc>
                <a:spcPct val="130000"/>
              </a:lnSpc>
              <a:buSzPct val="100000"/>
              <a:buFont typeface="Wingdings" panose="05000000000000000000" pitchFamily="2" charset="2"/>
              <a:buChar char="ü"/>
            </a:pPr>
            <a:r>
              <a:rPr lang="vi-VN" sz="3200" i="0" dirty="0">
                <a:solidFill>
                  <a:srgbClr val="000000"/>
                </a:solidFill>
                <a:effectLst/>
                <a:latin typeface="Times New Roman" panose="02020603050405020304" pitchFamily="18" charset="0"/>
                <a:cs typeface="Times New Roman" panose="02020603050405020304" pitchFamily="18" charset="0"/>
              </a:rPr>
              <a:t>Tích hợp theo dõi đơn hàng thời gian thực</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a:p>
            <a:pPr marL="571500" indent="-571500" algn="just">
              <a:lnSpc>
                <a:spcPct val="130000"/>
              </a:lnSpc>
              <a:buSzPct val="100000"/>
              <a:buFont typeface="Wingdings" panose="05000000000000000000" pitchFamily="2" charset="2"/>
              <a:buChar char="ü"/>
            </a:pPr>
            <a:r>
              <a:rPr lang="en-US" sz="3200" i="0" dirty="0" err="1">
                <a:solidFill>
                  <a:srgbClr val="000000"/>
                </a:solidFill>
                <a:effectLst/>
                <a:latin typeface="Times New Roman" panose="02020603050405020304" pitchFamily="18" charset="0"/>
                <a:cs typeface="Times New Roman" panose="02020603050405020304" pitchFamily="18" charset="0"/>
              </a:rPr>
              <a:t>Xây</a:t>
            </a:r>
            <a:r>
              <a:rPr lang="en-US" sz="3200" i="0" dirty="0">
                <a:solidFill>
                  <a:srgbClr val="000000"/>
                </a:solidFill>
                <a:effectLst/>
                <a:latin typeface="Times New Roman" panose="02020603050405020304" pitchFamily="18" charset="0"/>
                <a:cs typeface="Times New Roman" panose="02020603050405020304" pitchFamily="18" charset="0"/>
              </a:rPr>
              <a:t> </a:t>
            </a:r>
            <a:r>
              <a:rPr lang="en-US" sz="3200" i="0" dirty="0" err="1">
                <a:solidFill>
                  <a:srgbClr val="000000"/>
                </a:solidFill>
                <a:effectLst/>
                <a:latin typeface="Times New Roman" panose="02020603050405020304" pitchFamily="18" charset="0"/>
                <a:cs typeface="Times New Roman" panose="02020603050405020304" pitchFamily="18" charset="0"/>
              </a:rPr>
              <a:t>dựng</a:t>
            </a:r>
            <a:r>
              <a:rPr lang="en-US" sz="3200" i="0" dirty="0">
                <a:solidFill>
                  <a:srgbClr val="000000"/>
                </a:solidFill>
                <a:effectLst/>
                <a:latin typeface="Times New Roman" panose="02020603050405020304" pitchFamily="18" charset="0"/>
                <a:cs typeface="Times New Roman" panose="02020603050405020304" pitchFamily="18" charset="0"/>
              </a:rPr>
              <a:t> Backend RESTful API </a:t>
            </a:r>
            <a:r>
              <a:rPr lang="en-US" sz="3200" i="0" dirty="0" err="1">
                <a:solidFill>
                  <a:srgbClr val="000000"/>
                </a:solidFill>
                <a:effectLst/>
                <a:latin typeface="Times New Roman" panose="02020603050405020304" pitchFamily="18" charset="0"/>
                <a:cs typeface="Times New Roman" panose="02020603050405020304" pitchFamily="18" charset="0"/>
              </a:rPr>
              <a:t>hoàn</a:t>
            </a:r>
            <a:r>
              <a:rPr lang="en-US" sz="3200" i="0" dirty="0">
                <a:solidFill>
                  <a:srgbClr val="000000"/>
                </a:solidFill>
                <a:effectLst/>
                <a:latin typeface="Times New Roman" panose="02020603050405020304" pitchFamily="18" charset="0"/>
                <a:cs typeface="Times New Roman" panose="02020603050405020304" pitchFamily="18" charset="0"/>
              </a:rPr>
              <a:t> </a:t>
            </a:r>
            <a:r>
              <a:rPr lang="en-US" sz="3200" i="0" dirty="0" err="1">
                <a:solidFill>
                  <a:srgbClr val="000000"/>
                </a:solidFill>
                <a:effectLst/>
                <a:latin typeface="Times New Roman" panose="02020603050405020304" pitchFamily="18" charset="0"/>
                <a:cs typeface="Times New Roman" panose="02020603050405020304" pitchFamily="18" charset="0"/>
              </a:rPr>
              <a:t>chỉnh</a:t>
            </a:r>
            <a:r>
              <a:rPr lang="en-US" sz="3300" dirty="0">
                <a:solidFill>
                  <a:srgbClr val="1E293B"/>
                </a:solidFill>
                <a:latin typeface="Cambria" panose="02040503050406030204" pitchFamily="18" charset="0"/>
                <a:ea typeface="Cambria" panose="02040503050406030204" pitchFamily="18" charset="0"/>
                <a:cs typeface="Calibri" pitchFamily="34" charset="-120"/>
              </a:rPr>
              <a:t> </a:t>
            </a:r>
            <a:endParaRPr lang="en-US" sz="3300" dirty="0">
              <a:latin typeface="Cambria" panose="02040503050406030204" pitchFamily="18" charset="0"/>
              <a:ea typeface="Cambria" panose="02040503050406030204" pitchFamily="18" charset="0"/>
            </a:endParaRPr>
          </a:p>
        </p:txBody>
      </p:sp>
      <p:sp>
        <p:nvSpPr>
          <p:cNvPr id="21" name="TextBox 20">
            <a:extLst>
              <a:ext uri="{FF2B5EF4-FFF2-40B4-BE49-F238E27FC236}">
                <a16:creationId xmlns:a16="http://schemas.microsoft.com/office/drawing/2014/main" id="{DACE3611-2CB7-F277-7163-891180AB3C9B}"/>
              </a:ext>
            </a:extLst>
          </p:cNvPr>
          <p:cNvSpPr txBox="1"/>
          <p:nvPr/>
        </p:nvSpPr>
        <p:spPr>
          <a:xfrm>
            <a:off x="12199541" y="3267300"/>
            <a:ext cx="3566317" cy="600164"/>
          </a:xfrm>
          <a:prstGeom prst="rect">
            <a:avLst/>
          </a:prstGeom>
          <a:noFill/>
        </p:spPr>
        <p:txBody>
          <a:bodyPr wrap="square" rtlCol="0">
            <a:spAutoFit/>
          </a:bodyPr>
          <a:lstStyle/>
          <a:p>
            <a:pPr algn="just"/>
            <a:r>
              <a:rPr lang="en-US" sz="3300" b="1">
                <a:solidFill>
                  <a:schemeClr val="accent1">
                    <a:lumMod val="50000"/>
                  </a:schemeClr>
                </a:solidFill>
                <a:latin typeface="Cambria" panose="02040503050406030204" pitchFamily="18" charset="0"/>
                <a:ea typeface="Cambria" panose="02040503050406030204" pitchFamily="18" charset="0"/>
              </a:rPr>
              <a:t>Mục tiêu đề tài</a:t>
            </a:r>
            <a:endParaRPr lang="en-US" sz="3300" b="1" dirty="0">
              <a:solidFill>
                <a:schemeClr val="accent1">
                  <a:lumMod val="50000"/>
                </a:schemeClr>
              </a:solidFill>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07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sp>
        <p:nvSpPr>
          <p:cNvPr id="3" name="TextBox 3"/>
          <p:cNvSpPr txBox="1"/>
          <p:nvPr/>
        </p:nvSpPr>
        <p:spPr>
          <a:xfrm>
            <a:off x="1658718" y="1771120"/>
            <a:ext cx="12877791" cy="738664"/>
          </a:xfrm>
          <a:prstGeom prst="rect">
            <a:avLst/>
          </a:prstGeom>
        </p:spPr>
        <p:txBody>
          <a:bodyPr wrap="square" lIns="0" tIns="0" rIns="0" bIns="0" rtlCol="0" anchor="t">
            <a:spAutoFit/>
          </a:bodyPr>
          <a:lstStyle/>
          <a:p>
            <a:pPr algn="l"/>
            <a:r>
              <a:rPr lang="en-US" sz="4800" b="1" i="0" dirty="0" err="1">
                <a:solidFill>
                  <a:srgbClr val="15458C"/>
                </a:solidFill>
                <a:effectLst/>
                <a:latin typeface="Times New Roman" panose="02020603050405020304" pitchFamily="18" charset="0"/>
                <a:cs typeface="Times New Roman" panose="02020603050405020304" pitchFamily="18" charset="0"/>
              </a:rPr>
              <a:t>Công</a:t>
            </a:r>
            <a:r>
              <a:rPr lang="en-US" sz="4800" b="1" i="0" dirty="0">
                <a:solidFill>
                  <a:srgbClr val="15458C"/>
                </a:solidFill>
                <a:effectLst/>
                <a:latin typeface="Times New Roman" panose="02020603050405020304" pitchFamily="18" charset="0"/>
                <a:cs typeface="Times New Roman" panose="02020603050405020304" pitchFamily="18" charset="0"/>
              </a:rPr>
              <a:t> </a:t>
            </a:r>
            <a:r>
              <a:rPr lang="en-US" sz="4800" b="1" i="0" dirty="0" err="1">
                <a:solidFill>
                  <a:srgbClr val="15458C"/>
                </a:solidFill>
                <a:effectLst/>
                <a:latin typeface="Times New Roman" panose="02020603050405020304" pitchFamily="18" charset="0"/>
                <a:cs typeface="Times New Roman" panose="02020603050405020304" pitchFamily="18" charset="0"/>
              </a:rPr>
              <a:t>nghệ</a:t>
            </a:r>
            <a:r>
              <a:rPr lang="en-US" sz="4800" b="1" i="0" dirty="0">
                <a:solidFill>
                  <a:srgbClr val="15458C"/>
                </a:solidFill>
                <a:effectLst/>
                <a:latin typeface="Times New Roman" panose="02020603050405020304" pitchFamily="18" charset="0"/>
                <a:cs typeface="Times New Roman" panose="02020603050405020304" pitchFamily="18" charset="0"/>
              </a:rPr>
              <a:t> </a:t>
            </a:r>
            <a:r>
              <a:rPr lang="en-US" sz="4800" b="1" i="0" dirty="0" err="1">
                <a:solidFill>
                  <a:srgbClr val="15458C"/>
                </a:solidFill>
                <a:effectLst/>
                <a:latin typeface="Times New Roman" panose="02020603050405020304" pitchFamily="18" charset="0"/>
                <a:cs typeface="Times New Roman" panose="02020603050405020304" pitchFamily="18" charset="0"/>
              </a:rPr>
              <a:t>sử</a:t>
            </a:r>
            <a:r>
              <a:rPr lang="en-US" sz="4800" b="1" i="0" dirty="0">
                <a:solidFill>
                  <a:srgbClr val="15458C"/>
                </a:solidFill>
                <a:effectLst/>
                <a:latin typeface="Times New Roman" panose="02020603050405020304" pitchFamily="18" charset="0"/>
                <a:cs typeface="Times New Roman" panose="02020603050405020304" pitchFamily="18" charset="0"/>
              </a:rPr>
              <a:t> </a:t>
            </a:r>
            <a:r>
              <a:rPr lang="en-US" sz="4800" b="1" i="0" dirty="0" err="1">
                <a:solidFill>
                  <a:srgbClr val="15458C"/>
                </a:solidFill>
                <a:effectLst/>
                <a:latin typeface="Times New Roman" panose="02020603050405020304" pitchFamily="18" charset="0"/>
                <a:cs typeface="Times New Roman" panose="02020603050405020304" pitchFamily="18" charset="0"/>
              </a:rPr>
              <a:t>dụng</a:t>
            </a:r>
            <a:endParaRPr lang="en-US" sz="4800" b="1" i="0" dirty="0">
              <a:solidFill>
                <a:srgbClr val="15458C"/>
              </a:solidFill>
              <a:effectLst/>
              <a:latin typeface="Times New Roman" panose="02020603050405020304" pitchFamily="18" charset="0"/>
              <a:cs typeface="Times New Roman" panose="02020603050405020304" pitchFamily="18" charset="0"/>
            </a:endParaRPr>
          </a:p>
        </p:txBody>
      </p:sp>
      <p:cxnSp>
        <p:nvCxnSpPr>
          <p:cNvPr id="41" name="Straight Connector 40">
            <a:extLst>
              <a:ext uri="{FF2B5EF4-FFF2-40B4-BE49-F238E27FC236}">
                <a16:creationId xmlns:a16="http://schemas.microsoft.com/office/drawing/2014/main" id="{9F07B5CF-5BEA-9644-D4EF-EE4DE9A8AC35}"/>
              </a:ext>
            </a:extLst>
          </p:cNvPr>
          <p:cNvCxnSpPr>
            <a:cxnSpLocks/>
          </p:cNvCxnSpPr>
          <p:nvPr/>
        </p:nvCxnSpPr>
        <p:spPr>
          <a:xfrm>
            <a:off x="1501624" y="1943292"/>
            <a:ext cx="0" cy="4570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14" name="Shape 1">
            <a:extLst>
              <a:ext uri="{FF2B5EF4-FFF2-40B4-BE49-F238E27FC236}">
                <a16:creationId xmlns:a16="http://schemas.microsoft.com/office/drawing/2014/main" id="{ECA90BCB-CFAD-B337-2496-184AC54E2867}"/>
              </a:ext>
            </a:extLst>
          </p:cNvPr>
          <p:cNvSpPr/>
          <p:nvPr/>
        </p:nvSpPr>
        <p:spPr>
          <a:xfrm>
            <a:off x="1337627" y="2660601"/>
            <a:ext cx="7740000" cy="21564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16" name="Shape 2">
            <a:extLst>
              <a:ext uri="{FF2B5EF4-FFF2-40B4-BE49-F238E27FC236}">
                <a16:creationId xmlns:a16="http://schemas.microsoft.com/office/drawing/2014/main" id="{C0D9A958-A908-C5B9-DF6D-A2026E880A07}"/>
              </a:ext>
            </a:extLst>
          </p:cNvPr>
          <p:cNvSpPr/>
          <p:nvPr/>
        </p:nvSpPr>
        <p:spPr>
          <a:xfrm>
            <a:off x="1543261" y="2787113"/>
            <a:ext cx="648000" cy="648000"/>
          </a:xfrm>
          <a:prstGeom prst="roundRect">
            <a:avLst>
              <a:gd name="adj" fmla="val 16657762"/>
            </a:avLst>
          </a:prstGeom>
          <a:solidFill>
            <a:srgbClr val="1B54DA"/>
          </a:solidFill>
          <a:ln/>
        </p:spPr>
      </p:sp>
      <p:sp>
        <p:nvSpPr>
          <p:cNvPr id="17" name="Text 3">
            <a:extLst>
              <a:ext uri="{FF2B5EF4-FFF2-40B4-BE49-F238E27FC236}">
                <a16:creationId xmlns:a16="http://schemas.microsoft.com/office/drawing/2014/main" id="{D262BBB8-990D-E355-01C5-80D1CB79682A}"/>
              </a:ext>
            </a:extLst>
          </p:cNvPr>
          <p:cNvSpPr/>
          <p:nvPr/>
        </p:nvSpPr>
        <p:spPr>
          <a:xfrm>
            <a:off x="1109873" y="4025310"/>
            <a:ext cx="1520519" cy="457203"/>
          </a:xfrm>
          <a:prstGeom prst="rect">
            <a:avLst/>
          </a:prstGeom>
          <a:noFill/>
          <a:ln/>
        </p:spPr>
        <p:txBody>
          <a:bodyPr wrap="none" lIns="0" tIns="0" rIns="0" bIns="0" rtlCol="0" anchor="t"/>
          <a:lstStyle/>
          <a:p>
            <a:pPr marL="0" indent="0" algn="l">
              <a:lnSpc>
                <a:spcPts val="1400"/>
              </a:lnSpc>
              <a:buNone/>
            </a:pPr>
            <a:endParaRPr lang="en-US" sz="3200" dirty="0">
              <a:latin typeface="Times New Roman" panose="02020603050405020304" pitchFamily="18" charset="0"/>
              <a:cs typeface="Times New Roman" panose="02020603050405020304" pitchFamily="18" charset="0"/>
            </a:endParaRPr>
          </a:p>
        </p:txBody>
      </p:sp>
      <p:pic>
        <p:nvPicPr>
          <p:cNvPr id="25" name="Graphic 24" descr="Smart Phone">
            <a:extLst>
              <a:ext uri="{FF2B5EF4-FFF2-40B4-BE49-F238E27FC236}">
                <a16:creationId xmlns:a16="http://schemas.microsoft.com/office/drawing/2014/main" id="{143973F0-E250-23D4-6A77-512BFA6AB7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65661" y="2909513"/>
            <a:ext cx="403200" cy="403200"/>
          </a:xfrm>
          <a:prstGeom prst="rect">
            <a:avLst/>
          </a:prstGeom>
        </p:spPr>
      </p:pic>
      <p:sp>
        <p:nvSpPr>
          <p:cNvPr id="28" name="TextBox 27">
            <a:extLst>
              <a:ext uri="{FF2B5EF4-FFF2-40B4-BE49-F238E27FC236}">
                <a16:creationId xmlns:a16="http://schemas.microsoft.com/office/drawing/2014/main" id="{439553C3-4691-9CF6-E30B-138D7CCF362B}"/>
              </a:ext>
            </a:extLst>
          </p:cNvPr>
          <p:cNvSpPr txBox="1"/>
          <p:nvPr/>
        </p:nvSpPr>
        <p:spPr>
          <a:xfrm>
            <a:off x="1668221" y="3486701"/>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Flutter / Dart</a:t>
            </a:r>
          </a:p>
          <a:p>
            <a:r>
              <a:rPr lang="en-VN" sz="2800" dirty="0">
                <a:latin typeface="Times New Roman" panose="02020603050405020304" pitchFamily="18" charset="0"/>
                <a:cs typeface="Times New Roman" panose="02020603050405020304" pitchFamily="18" charset="0"/>
              </a:rPr>
              <a:t>Ứng dụng đi động đa nền tảng</a:t>
            </a:r>
          </a:p>
        </p:txBody>
      </p:sp>
      <p:sp>
        <p:nvSpPr>
          <p:cNvPr id="29" name="Shape 1">
            <a:extLst>
              <a:ext uri="{FF2B5EF4-FFF2-40B4-BE49-F238E27FC236}">
                <a16:creationId xmlns:a16="http://schemas.microsoft.com/office/drawing/2014/main" id="{B36145CF-95A4-22D5-675D-5C8FDA4A3987}"/>
              </a:ext>
            </a:extLst>
          </p:cNvPr>
          <p:cNvSpPr/>
          <p:nvPr/>
        </p:nvSpPr>
        <p:spPr>
          <a:xfrm>
            <a:off x="1320713" y="4947113"/>
            <a:ext cx="7740000" cy="21600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30" name="Shape 2">
            <a:extLst>
              <a:ext uri="{FF2B5EF4-FFF2-40B4-BE49-F238E27FC236}">
                <a16:creationId xmlns:a16="http://schemas.microsoft.com/office/drawing/2014/main" id="{E0815687-24B8-EF9A-AA1F-DB878A7499CB}"/>
              </a:ext>
            </a:extLst>
          </p:cNvPr>
          <p:cNvSpPr/>
          <p:nvPr/>
        </p:nvSpPr>
        <p:spPr>
          <a:xfrm>
            <a:off x="1520196" y="5092774"/>
            <a:ext cx="648000" cy="648000"/>
          </a:xfrm>
          <a:prstGeom prst="roundRect">
            <a:avLst>
              <a:gd name="adj" fmla="val 16657762"/>
            </a:avLst>
          </a:prstGeom>
          <a:solidFill>
            <a:srgbClr val="1B54DA"/>
          </a:solidFill>
          <a:ln/>
        </p:spPr>
        <p:txBody>
          <a:bodyPr/>
          <a:lstStyle/>
          <a:p>
            <a:endParaRPr lang="en-VN" dirty="0"/>
          </a:p>
        </p:txBody>
      </p:sp>
      <p:sp>
        <p:nvSpPr>
          <p:cNvPr id="32" name="TextBox 31">
            <a:extLst>
              <a:ext uri="{FF2B5EF4-FFF2-40B4-BE49-F238E27FC236}">
                <a16:creationId xmlns:a16="http://schemas.microsoft.com/office/drawing/2014/main" id="{26DBA0B1-0397-36F8-CDB1-9E72722D70CC}"/>
              </a:ext>
            </a:extLst>
          </p:cNvPr>
          <p:cNvSpPr txBox="1"/>
          <p:nvPr/>
        </p:nvSpPr>
        <p:spPr>
          <a:xfrm>
            <a:off x="1641717" y="5772888"/>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PostgreSQL</a:t>
            </a:r>
          </a:p>
          <a:p>
            <a:r>
              <a:rPr lang="en-VN" sz="2800" dirty="0">
                <a:latin typeface="Times New Roman" panose="02020603050405020304" pitchFamily="18" charset="0"/>
                <a:cs typeface="Times New Roman" panose="02020603050405020304" pitchFamily="18" charset="0"/>
              </a:rPr>
              <a:t>Cơ sở dữ liệu (Supabase)</a:t>
            </a:r>
          </a:p>
        </p:txBody>
      </p:sp>
      <p:pic>
        <p:nvPicPr>
          <p:cNvPr id="34" name="Graphic 33" descr="Database">
            <a:extLst>
              <a:ext uri="{FF2B5EF4-FFF2-40B4-BE49-F238E27FC236}">
                <a16:creationId xmlns:a16="http://schemas.microsoft.com/office/drawing/2014/main" id="{F2F0AD76-25E8-B285-8607-01FE2679CE64}"/>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45727" y="5236955"/>
            <a:ext cx="396000" cy="396000"/>
          </a:xfrm>
          <a:prstGeom prst="rect">
            <a:avLst/>
          </a:prstGeom>
        </p:spPr>
      </p:pic>
      <p:sp>
        <p:nvSpPr>
          <p:cNvPr id="35" name="Shape 1">
            <a:extLst>
              <a:ext uri="{FF2B5EF4-FFF2-40B4-BE49-F238E27FC236}">
                <a16:creationId xmlns:a16="http://schemas.microsoft.com/office/drawing/2014/main" id="{A374584F-22D5-6057-8B2A-4A197036F13C}"/>
              </a:ext>
            </a:extLst>
          </p:cNvPr>
          <p:cNvSpPr/>
          <p:nvPr/>
        </p:nvSpPr>
        <p:spPr>
          <a:xfrm>
            <a:off x="1320713" y="7231925"/>
            <a:ext cx="7740000" cy="21600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36" name="Shape 2">
            <a:extLst>
              <a:ext uri="{FF2B5EF4-FFF2-40B4-BE49-F238E27FC236}">
                <a16:creationId xmlns:a16="http://schemas.microsoft.com/office/drawing/2014/main" id="{226F500F-6818-157D-D231-68377DABEA61}"/>
              </a:ext>
            </a:extLst>
          </p:cNvPr>
          <p:cNvSpPr/>
          <p:nvPr/>
        </p:nvSpPr>
        <p:spPr>
          <a:xfrm>
            <a:off x="1516186" y="7332297"/>
            <a:ext cx="648000" cy="648000"/>
          </a:xfrm>
          <a:prstGeom prst="roundRect">
            <a:avLst>
              <a:gd name="adj" fmla="val 16657762"/>
            </a:avLst>
          </a:prstGeom>
          <a:solidFill>
            <a:srgbClr val="1B54DA"/>
          </a:solidFill>
          <a:ln/>
        </p:spPr>
      </p:sp>
      <p:sp>
        <p:nvSpPr>
          <p:cNvPr id="38" name="TextBox 37">
            <a:extLst>
              <a:ext uri="{FF2B5EF4-FFF2-40B4-BE49-F238E27FC236}">
                <a16:creationId xmlns:a16="http://schemas.microsoft.com/office/drawing/2014/main" id="{47DDAF04-AB63-A225-C715-B02DDFBE5967}"/>
              </a:ext>
            </a:extLst>
          </p:cNvPr>
          <p:cNvSpPr txBox="1"/>
          <p:nvPr/>
        </p:nvSpPr>
        <p:spPr>
          <a:xfrm>
            <a:off x="1641717" y="8054393"/>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Firebase Auth</a:t>
            </a:r>
          </a:p>
          <a:p>
            <a:r>
              <a:rPr lang="en-VN" sz="2800" dirty="0">
                <a:latin typeface="Times New Roman" panose="02020603050405020304" pitchFamily="18" charset="0"/>
                <a:cs typeface="Times New Roman" panose="02020603050405020304" pitchFamily="18" charset="0"/>
              </a:rPr>
              <a:t>Xác thực email, google</a:t>
            </a:r>
          </a:p>
        </p:txBody>
      </p:sp>
      <p:pic>
        <p:nvPicPr>
          <p:cNvPr id="40" name="Graphic 39" descr="User">
            <a:extLst>
              <a:ext uri="{FF2B5EF4-FFF2-40B4-BE49-F238E27FC236}">
                <a16:creationId xmlns:a16="http://schemas.microsoft.com/office/drawing/2014/main" id="{DD80C6F6-1DEC-485D-2421-49176AF718F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41717" y="7451730"/>
            <a:ext cx="396000" cy="396000"/>
          </a:xfrm>
          <a:prstGeom prst="rect">
            <a:avLst/>
          </a:prstGeom>
        </p:spPr>
      </p:pic>
      <p:sp>
        <p:nvSpPr>
          <p:cNvPr id="42" name="Shape 1">
            <a:extLst>
              <a:ext uri="{FF2B5EF4-FFF2-40B4-BE49-F238E27FC236}">
                <a16:creationId xmlns:a16="http://schemas.microsoft.com/office/drawing/2014/main" id="{C1D14BD0-BB77-EC3D-3965-5AA6A270B6E4}"/>
              </a:ext>
            </a:extLst>
          </p:cNvPr>
          <p:cNvSpPr/>
          <p:nvPr/>
        </p:nvSpPr>
        <p:spPr>
          <a:xfrm>
            <a:off x="9375662" y="2657001"/>
            <a:ext cx="7740000" cy="21600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43" name="Shape 2">
            <a:extLst>
              <a:ext uri="{FF2B5EF4-FFF2-40B4-BE49-F238E27FC236}">
                <a16:creationId xmlns:a16="http://schemas.microsoft.com/office/drawing/2014/main" id="{73FD4F11-B7C2-7E77-B640-E0EA7AA3C2ED}"/>
              </a:ext>
            </a:extLst>
          </p:cNvPr>
          <p:cNvSpPr/>
          <p:nvPr/>
        </p:nvSpPr>
        <p:spPr>
          <a:xfrm>
            <a:off x="9571135" y="2765656"/>
            <a:ext cx="648000" cy="648000"/>
          </a:xfrm>
          <a:prstGeom prst="roundRect">
            <a:avLst>
              <a:gd name="adj" fmla="val 16657762"/>
            </a:avLst>
          </a:prstGeom>
          <a:solidFill>
            <a:srgbClr val="1B54DA"/>
          </a:solidFill>
          <a:ln/>
        </p:spPr>
      </p:sp>
      <p:sp>
        <p:nvSpPr>
          <p:cNvPr id="45" name="TextBox 44">
            <a:extLst>
              <a:ext uri="{FF2B5EF4-FFF2-40B4-BE49-F238E27FC236}">
                <a16:creationId xmlns:a16="http://schemas.microsoft.com/office/drawing/2014/main" id="{87A952E2-406C-923D-D2E8-87864F323B46}"/>
              </a:ext>
            </a:extLst>
          </p:cNvPr>
          <p:cNvSpPr txBox="1"/>
          <p:nvPr/>
        </p:nvSpPr>
        <p:spPr>
          <a:xfrm>
            <a:off x="9703066" y="3465414"/>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Node.js + Express.js</a:t>
            </a:r>
          </a:p>
          <a:p>
            <a:r>
              <a:rPr lang="en-VN" sz="2800" dirty="0">
                <a:latin typeface="Times New Roman" panose="02020603050405020304" pitchFamily="18" charset="0"/>
                <a:cs typeface="Times New Roman" panose="02020603050405020304" pitchFamily="18" charset="0"/>
              </a:rPr>
              <a:t>Backend RESTful API</a:t>
            </a:r>
          </a:p>
        </p:txBody>
      </p:sp>
      <p:pic>
        <p:nvPicPr>
          <p:cNvPr id="47" name="Graphic 46" descr="Server">
            <a:extLst>
              <a:ext uri="{FF2B5EF4-FFF2-40B4-BE49-F238E27FC236}">
                <a16:creationId xmlns:a16="http://schemas.microsoft.com/office/drawing/2014/main" id="{7ED3700A-2FC3-DBFD-A75D-DCB5546297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697135" y="2878310"/>
            <a:ext cx="396000" cy="396000"/>
          </a:xfrm>
          <a:prstGeom prst="rect">
            <a:avLst/>
          </a:prstGeom>
        </p:spPr>
      </p:pic>
      <p:sp>
        <p:nvSpPr>
          <p:cNvPr id="48" name="Shape 1">
            <a:extLst>
              <a:ext uri="{FF2B5EF4-FFF2-40B4-BE49-F238E27FC236}">
                <a16:creationId xmlns:a16="http://schemas.microsoft.com/office/drawing/2014/main" id="{B53496B5-4C8A-10B9-F56A-12A64C453F58}"/>
              </a:ext>
            </a:extLst>
          </p:cNvPr>
          <p:cNvSpPr/>
          <p:nvPr/>
        </p:nvSpPr>
        <p:spPr>
          <a:xfrm>
            <a:off x="9375662" y="4947113"/>
            <a:ext cx="7740000" cy="21600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49" name="Shape 2">
            <a:extLst>
              <a:ext uri="{FF2B5EF4-FFF2-40B4-BE49-F238E27FC236}">
                <a16:creationId xmlns:a16="http://schemas.microsoft.com/office/drawing/2014/main" id="{B7B80E8F-8C75-C549-7521-B0162FC1D42A}"/>
              </a:ext>
            </a:extLst>
          </p:cNvPr>
          <p:cNvSpPr/>
          <p:nvPr/>
        </p:nvSpPr>
        <p:spPr>
          <a:xfrm>
            <a:off x="9571135" y="5055768"/>
            <a:ext cx="648000" cy="648000"/>
          </a:xfrm>
          <a:prstGeom prst="roundRect">
            <a:avLst>
              <a:gd name="adj" fmla="val 16657762"/>
            </a:avLst>
          </a:prstGeom>
          <a:solidFill>
            <a:srgbClr val="1B54DA"/>
          </a:solidFill>
          <a:ln/>
        </p:spPr>
        <p:txBody>
          <a:bodyPr/>
          <a:lstStyle/>
          <a:p>
            <a:endParaRPr lang="en-VN" dirty="0"/>
          </a:p>
        </p:txBody>
      </p:sp>
      <p:sp>
        <p:nvSpPr>
          <p:cNvPr id="50" name="TextBox 49">
            <a:extLst>
              <a:ext uri="{FF2B5EF4-FFF2-40B4-BE49-F238E27FC236}">
                <a16:creationId xmlns:a16="http://schemas.microsoft.com/office/drawing/2014/main" id="{93B34109-77AD-9F0B-40FE-5E2812394F5C}"/>
              </a:ext>
            </a:extLst>
          </p:cNvPr>
          <p:cNvSpPr txBox="1"/>
          <p:nvPr/>
        </p:nvSpPr>
        <p:spPr>
          <a:xfrm>
            <a:off x="9690040" y="5772888"/>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Supabase</a:t>
            </a:r>
          </a:p>
          <a:p>
            <a:r>
              <a:rPr lang="en-VN" sz="2800" dirty="0">
                <a:latin typeface="Times New Roman" panose="02020603050405020304" pitchFamily="18" charset="0"/>
                <a:cs typeface="Times New Roman" panose="02020603050405020304" pitchFamily="18" charset="0"/>
              </a:rPr>
              <a:t>Cập nhật trạng thái thời gian thực</a:t>
            </a:r>
          </a:p>
        </p:txBody>
      </p:sp>
      <p:sp>
        <p:nvSpPr>
          <p:cNvPr id="52" name="Shape 1">
            <a:extLst>
              <a:ext uri="{FF2B5EF4-FFF2-40B4-BE49-F238E27FC236}">
                <a16:creationId xmlns:a16="http://schemas.microsoft.com/office/drawing/2014/main" id="{83BC0612-A85B-6FB3-BD69-DD1FE820FB70}"/>
              </a:ext>
            </a:extLst>
          </p:cNvPr>
          <p:cNvSpPr/>
          <p:nvPr/>
        </p:nvSpPr>
        <p:spPr>
          <a:xfrm>
            <a:off x="9375662" y="7231925"/>
            <a:ext cx="7740000" cy="2160000"/>
          </a:xfrm>
          <a:prstGeom prst="roundRect">
            <a:avLst>
              <a:gd name="adj" fmla="val 4349"/>
            </a:avLst>
          </a:prstGeom>
          <a:solidFill>
            <a:srgbClr val="D2DDF9"/>
          </a:solidFill>
          <a:ln w="4763">
            <a:solidFill>
              <a:srgbClr val="B8C3DF"/>
            </a:solidFill>
            <a:prstDash val="solid"/>
          </a:ln>
        </p:spPr>
        <p:txBody>
          <a:bodyPr/>
          <a:lstStyle/>
          <a:p>
            <a:endParaRPr lang="en-VN" dirty="0"/>
          </a:p>
        </p:txBody>
      </p:sp>
      <p:sp>
        <p:nvSpPr>
          <p:cNvPr id="53" name="Shape 2">
            <a:extLst>
              <a:ext uri="{FF2B5EF4-FFF2-40B4-BE49-F238E27FC236}">
                <a16:creationId xmlns:a16="http://schemas.microsoft.com/office/drawing/2014/main" id="{A1AD5136-CA5A-2A26-B736-DD53B8C74DA8}"/>
              </a:ext>
            </a:extLst>
          </p:cNvPr>
          <p:cNvSpPr/>
          <p:nvPr/>
        </p:nvSpPr>
        <p:spPr>
          <a:xfrm>
            <a:off x="9571135" y="7340580"/>
            <a:ext cx="648000" cy="648000"/>
          </a:xfrm>
          <a:prstGeom prst="roundRect">
            <a:avLst>
              <a:gd name="adj" fmla="val 16657762"/>
            </a:avLst>
          </a:prstGeom>
          <a:solidFill>
            <a:srgbClr val="1B54DA"/>
          </a:solidFill>
          <a:ln/>
        </p:spPr>
      </p:sp>
      <p:sp>
        <p:nvSpPr>
          <p:cNvPr id="54" name="TextBox 53">
            <a:extLst>
              <a:ext uri="{FF2B5EF4-FFF2-40B4-BE49-F238E27FC236}">
                <a16:creationId xmlns:a16="http://schemas.microsoft.com/office/drawing/2014/main" id="{058BE9D7-A998-BA19-B657-3D330C750ACF}"/>
              </a:ext>
            </a:extLst>
          </p:cNvPr>
          <p:cNvSpPr txBox="1"/>
          <p:nvPr/>
        </p:nvSpPr>
        <p:spPr>
          <a:xfrm>
            <a:off x="9697135" y="8054393"/>
            <a:ext cx="5334000" cy="1077218"/>
          </a:xfrm>
          <a:prstGeom prst="rect">
            <a:avLst/>
          </a:prstGeom>
          <a:noFill/>
        </p:spPr>
        <p:txBody>
          <a:bodyPr wrap="square" rtlCol="0">
            <a:spAutoFit/>
          </a:bodyPr>
          <a:lstStyle/>
          <a:p>
            <a:r>
              <a:rPr lang="en-VN" sz="3600" b="1" dirty="0">
                <a:latin typeface="Times New Roman" panose="02020603050405020304" pitchFamily="18" charset="0"/>
                <a:cs typeface="Times New Roman" panose="02020603050405020304" pitchFamily="18" charset="0"/>
              </a:rPr>
              <a:t>OpenStreetMap</a:t>
            </a:r>
          </a:p>
          <a:p>
            <a:r>
              <a:rPr lang="en-VN" sz="2800" dirty="0">
                <a:latin typeface="Times New Roman" panose="02020603050405020304" pitchFamily="18" charset="0"/>
                <a:cs typeface="Times New Roman" panose="02020603050405020304" pitchFamily="18" charset="0"/>
              </a:rPr>
              <a:t>Hiển thị bản đồ giao hàng</a:t>
            </a:r>
          </a:p>
        </p:txBody>
      </p:sp>
      <p:pic>
        <p:nvPicPr>
          <p:cNvPr id="57" name="Graphic 56" descr="Clock">
            <a:extLst>
              <a:ext uri="{FF2B5EF4-FFF2-40B4-BE49-F238E27FC236}">
                <a16:creationId xmlns:a16="http://schemas.microsoft.com/office/drawing/2014/main" id="{653F6115-A535-0304-C840-58C37D6BEDE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97135" y="5186276"/>
            <a:ext cx="396000" cy="396000"/>
          </a:xfrm>
          <a:prstGeom prst="rect">
            <a:avLst/>
          </a:prstGeom>
        </p:spPr>
      </p:pic>
      <p:pic>
        <p:nvPicPr>
          <p:cNvPr id="59" name="Graphic 58" descr="Map with pin">
            <a:extLst>
              <a:ext uri="{FF2B5EF4-FFF2-40B4-BE49-F238E27FC236}">
                <a16:creationId xmlns:a16="http://schemas.microsoft.com/office/drawing/2014/main" id="{839E3A9F-33D8-5BC5-9E23-14285A93C21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03066" y="7432998"/>
            <a:ext cx="396000" cy="3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9B0-09FD-4F21-6B19-67C5F92FC6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4CFB24-8409-328D-3E01-DF3EFEC2113B}"/>
              </a:ext>
            </a:extLst>
          </p:cNvPr>
          <p:cNvSpPr/>
          <p:nvPr/>
        </p:nvSpPr>
        <p:spPr>
          <a:xfrm>
            <a:off x="0" y="200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9" name="Group 8">
            <a:extLst>
              <a:ext uri="{FF2B5EF4-FFF2-40B4-BE49-F238E27FC236}">
                <a16:creationId xmlns:a16="http://schemas.microsoft.com/office/drawing/2014/main" id="{9EDADDC5-C3DA-43D0-7B30-054172438D60}"/>
              </a:ext>
            </a:extLst>
          </p:cNvPr>
          <p:cNvGrpSpPr/>
          <p:nvPr/>
        </p:nvGrpSpPr>
        <p:grpSpPr>
          <a:xfrm>
            <a:off x="914400" y="1638300"/>
            <a:ext cx="12157434" cy="1196225"/>
            <a:chOff x="8252935" y="2941902"/>
            <a:chExt cx="12157434" cy="1196225"/>
          </a:xfrm>
        </p:grpSpPr>
        <p:sp>
          <p:nvSpPr>
            <p:cNvPr id="10" name="TextBox 7">
              <a:extLst>
                <a:ext uri="{FF2B5EF4-FFF2-40B4-BE49-F238E27FC236}">
                  <a16:creationId xmlns:a16="http://schemas.microsoft.com/office/drawing/2014/main" id="{DCAFA26D-BB82-5F16-966E-1E9A8B1CB8F1}"/>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b="1" i="0" dirty="0" err="1">
                  <a:solidFill>
                    <a:srgbClr val="15458C"/>
                  </a:solidFill>
                  <a:effectLst/>
                  <a:latin typeface="Times New Roman" panose="02020603050405020304" pitchFamily="18" charset="0"/>
                  <a:cs typeface="Times New Roman" panose="02020603050405020304" pitchFamily="18" charset="0"/>
                </a:rPr>
                <a:t>Phạm</a:t>
              </a:r>
              <a:r>
                <a:rPr lang="en-US" sz="4800" b="1" i="0" dirty="0">
                  <a:solidFill>
                    <a:srgbClr val="15458C"/>
                  </a:solidFill>
                  <a:effectLst/>
                  <a:latin typeface="Times New Roman" panose="02020603050405020304" pitchFamily="18" charset="0"/>
                  <a:cs typeface="Times New Roman" panose="02020603050405020304" pitchFamily="18" charset="0"/>
                </a:rPr>
                <a:t> vi &amp;</a:t>
              </a:r>
              <a:r>
                <a:rPr lang="en-US" sz="4800" b="1"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b="1" dirty="0" err="1">
                  <a:solidFill>
                    <a:srgbClr val="15458C"/>
                  </a:solidFill>
                  <a:latin typeface="Times New Roman" panose="02020603050405020304" pitchFamily="18" charset="0"/>
                  <a:ea typeface="Alexandria" pitchFamily="34" charset="-122"/>
                  <a:cs typeface="Times New Roman" panose="02020603050405020304" pitchFamily="18" charset="0"/>
                </a:rPr>
                <a:t>Kiến</a:t>
              </a:r>
              <a:r>
                <a:rPr lang="en-US" sz="4800" b="1"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b="1" dirty="0" err="1">
                  <a:solidFill>
                    <a:srgbClr val="15458C"/>
                  </a:solidFill>
                  <a:latin typeface="Times New Roman" panose="02020603050405020304" pitchFamily="18" charset="0"/>
                  <a:ea typeface="Alexandria" pitchFamily="34" charset="-122"/>
                  <a:cs typeface="Times New Roman" panose="02020603050405020304" pitchFamily="18" charset="0"/>
                </a:rPr>
                <a:t>trúc</a:t>
              </a:r>
              <a:r>
                <a:rPr lang="en-US" sz="4800" b="1"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b="1" dirty="0" err="1">
                  <a:solidFill>
                    <a:srgbClr val="15458C"/>
                  </a:solidFill>
                  <a:latin typeface="Times New Roman" panose="02020603050405020304" pitchFamily="18" charset="0"/>
                  <a:ea typeface="Alexandria" pitchFamily="34" charset="-122"/>
                  <a:cs typeface="Times New Roman" panose="02020603050405020304" pitchFamily="18" charset="0"/>
                </a:rPr>
                <a:t>hệ</a:t>
              </a:r>
              <a:r>
                <a:rPr lang="en-US" sz="4800" b="1"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b="1" dirty="0" err="1">
                  <a:solidFill>
                    <a:srgbClr val="15458C"/>
                  </a:solidFill>
                  <a:latin typeface="Times New Roman" panose="02020603050405020304" pitchFamily="18" charset="0"/>
                  <a:ea typeface="Alexandria" pitchFamily="34" charset="-122"/>
                  <a:cs typeface="Times New Roman" panose="02020603050405020304" pitchFamily="18" charset="0"/>
                </a:rPr>
                <a:t>thống</a:t>
              </a:r>
              <a:r>
                <a:rPr lang="en-US" sz="4800" b="1" dirty="0">
                  <a:solidFill>
                    <a:srgbClr val="15458C"/>
                  </a:solidFill>
                  <a:latin typeface="Times New Roman" panose="02020603050405020304" pitchFamily="18" charset="0"/>
                  <a:ea typeface="Alexandria" pitchFamily="34" charset="-122"/>
                  <a:cs typeface="Times New Roman" panose="02020603050405020304" pitchFamily="18" charset="0"/>
                </a:rPr>
                <a:t> </a:t>
              </a:r>
              <a:endParaRPr lang="en-US" sz="4800" b="1" dirty="0">
                <a:solidFill>
                  <a:srgbClr val="15458C"/>
                </a:solidFill>
                <a:latin typeface="Times New Roman" panose="02020603050405020304" pitchFamily="18" charset="0"/>
                <a:ea typeface="Cambria" panose="02040503050406030204" pitchFamily="18" charset="0"/>
                <a:cs typeface="Times New Roman" panose="02020603050405020304" pitchFamily="18" charset="0"/>
                <a:sym typeface="Cambria"/>
              </a:endParaRPr>
            </a:p>
          </p:txBody>
        </p:sp>
        <p:cxnSp>
          <p:nvCxnSpPr>
            <p:cNvPr id="12" name="Straight Connector 11">
              <a:extLst>
                <a:ext uri="{FF2B5EF4-FFF2-40B4-BE49-F238E27FC236}">
                  <a16:creationId xmlns:a16="http://schemas.microsoft.com/office/drawing/2014/main" id="{725ED61E-5113-2D8A-836D-D978A876EFC3}"/>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sp>
        <p:nvSpPr>
          <p:cNvPr id="3" name="Shape 1">
            <a:extLst>
              <a:ext uri="{FF2B5EF4-FFF2-40B4-BE49-F238E27FC236}">
                <a16:creationId xmlns:a16="http://schemas.microsoft.com/office/drawing/2014/main" id="{807D6CC0-A66B-1C4A-11CD-822667405F52}"/>
              </a:ext>
            </a:extLst>
          </p:cNvPr>
          <p:cNvSpPr/>
          <p:nvPr/>
        </p:nvSpPr>
        <p:spPr>
          <a:xfrm>
            <a:off x="1203573" y="4322932"/>
            <a:ext cx="3960000" cy="216178"/>
          </a:xfrm>
          <a:prstGeom prst="roundRect">
            <a:avLst>
              <a:gd name="adj" fmla="val 42000"/>
            </a:avLst>
          </a:prstGeom>
          <a:solidFill>
            <a:srgbClr val="D2DDF9"/>
          </a:solidFill>
          <a:ln w="4763">
            <a:solidFill>
              <a:srgbClr val="B8C3DF"/>
            </a:solidFill>
            <a:prstDash val="solid"/>
          </a:ln>
        </p:spPr>
      </p:sp>
      <p:sp>
        <p:nvSpPr>
          <p:cNvPr id="4" name="Shape 2">
            <a:extLst>
              <a:ext uri="{FF2B5EF4-FFF2-40B4-BE49-F238E27FC236}">
                <a16:creationId xmlns:a16="http://schemas.microsoft.com/office/drawing/2014/main" id="{A95466C0-9E45-8B83-7625-9DD57D70FB2E}"/>
              </a:ext>
            </a:extLst>
          </p:cNvPr>
          <p:cNvSpPr>
            <a:spLocks noChangeAspect="1"/>
          </p:cNvSpPr>
          <p:nvPr/>
        </p:nvSpPr>
        <p:spPr>
          <a:xfrm>
            <a:off x="915573" y="4115582"/>
            <a:ext cx="576000" cy="576000"/>
          </a:xfrm>
          <a:prstGeom prst="roundRect">
            <a:avLst>
              <a:gd name="adj" fmla="val 114286"/>
            </a:avLst>
          </a:prstGeom>
          <a:solidFill>
            <a:srgbClr val="D2DDF9"/>
          </a:solidFill>
          <a:ln w="4763">
            <a:solidFill>
              <a:srgbClr val="B8C3DF"/>
            </a:solidFill>
            <a:prstDash val="solid"/>
          </a:ln>
        </p:spPr>
      </p:sp>
      <p:pic>
        <p:nvPicPr>
          <p:cNvPr id="5" name="Image 0" descr="preencoded.png">
            <a:extLst>
              <a:ext uri="{FF2B5EF4-FFF2-40B4-BE49-F238E27FC236}">
                <a16:creationId xmlns:a16="http://schemas.microsoft.com/office/drawing/2014/main" id="{93001137-F76C-C621-BB99-5FE68E2AAD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5887" y="4286100"/>
            <a:ext cx="324000" cy="324000"/>
          </a:xfrm>
          <a:prstGeom prst="rect">
            <a:avLst/>
          </a:prstGeom>
        </p:spPr>
      </p:pic>
      <p:sp>
        <p:nvSpPr>
          <p:cNvPr id="8" name="Shape 5">
            <a:extLst>
              <a:ext uri="{FF2B5EF4-FFF2-40B4-BE49-F238E27FC236}">
                <a16:creationId xmlns:a16="http://schemas.microsoft.com/office/drawing/2014/main" id="{914612BA-A441-7EDD-FAED-70CFE3437A50}"/>
              </a:ext>
            </a:extLst>
          </p:cNvPr>
          <p:cNvSpPr/>
          <p:nvPr/>
        </p:nvSpPr>
        <p:spPr>
          <a:xfrm>
            <a:off x="5782633" y="4004669"/>
            <a:ext cx="3960000" cy="178513"/>
          </a:xfrm>
          <a:prstGeom prst="roundRect">
            <a:avLst>
              <a:gd name="adj" fmla="val 42000"/>
            </a:avLst>
          </a:prstGeom>
          <a:solidFill>
            <a:srgbClr val="D2DDF9"/>
          </a:solidFill>
          <a:ln w="4763">
            <a:solidFill>
              <a:srgbClr val="B8C3DF"/>
            </a:solidFill>
            <a:prstDash val="solid"/>
          </a:ln>
        </p:spPr>
      </p:sp>
      <p:sp>
        <p:nvSpPr>
          <p:cNvPr id="11" name="Shape 6">
            <a:extLst>
              <a:ext uri="{FF2B5EF4-FFF2-40B4-BE49-F238E27FC236}">
                <a16:creationId xmlns:a16="http://schemas.microsoft.com/office/drawing/2014/main" id="{905B1037-1419-0406-5A40-62A3843CF0F2}"/>
              </a:ext>
            </a:extLst>
          </p:cNvPr>
          <p:cNvSpPr>
            <a:spLocks noChangeAspect="1"/>
          </p:cNvSpPr>
          <p:nvPr/>
        </p:nvSpPr>
        <p:spPr>
          <a:xfrm>
            <a:off x="5494633" y="3805926"/>
            <a:ext cx="576000" cy="576000"/>
          </a:xfrm>
          <a:prstGeom prst="roundRect">
            <a:avLst>
              <a:gd name="adj" fmla="val 114286"/>
            </a:avLst>
          </a:prstGeom>
          <a:solidFill>
            <a:srgbClr val="D2DDF9"/>
          </a:solidFill>
          <a:ln w="4763">
            <a:solidFill>
              <a:srgbClr val="B8C3DF"/>
            </a:solidFill>
            <a:prstDash val="solid"/>
          </a:ln>
        </p:spPr>
        <p:txBody>
          <a:bodyPr/>
          <a:lstStyle/>
          <a:p>
            <a:endParaRPr lang="en-VN" dirty="0"/>
          </a:p>
        </p:txBody>
      </p:sp>
      <p:pic>
        <p:nvPicPr>
          <p:cNvPr id="15" name="Image 1" descr="preencoded.png">
            <a:extLst>
              <a:ext uri="{FF2B5EF4-FFF2-40B4-BE49-F238E27FC236}">
                <a16:creationId xmlns:a16="http://schemas.microsoft.com/office/drawing/2014/main" id="{809444D1-4C7C-C97B-79B4-19630A4E414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633" y="3967005"/>
            <a:ext cx="288000" cy="288000"/>
          </a:xfrm>
          <a:prstGeom prst="rect">
            <a:avLst/>
          </a:prstGeom>
        </p:spPr>
      </p:pic>
      <p:sp>
        <p:nvSpPr>
          <p:cNvPr id="36" name="Shape 9">
            <a:extLst>
              <a:ext uri="{FF2B5EF4-FFF2-40B4-BE49-F238E27FC236}">
                <a16:creationId xmlns:a16="http://schemas.microsoft.com/office/drawing/2014/main" id="{84F77E4F-460B-7C67-1173-4B09AE240E07}"/>
              </a:ext>
            </a:extLst>
          </p:cNvPr>
          <p:cNvSpPr/>
          <p:nvPr/>
        </p:nvSpPr>
        <p:spPr>
          <a:xfrm>
            <a:off x="10347660" y="3629491"/>
            <a:ext cx="3960000" cy="216000"/>
          </a:xfrm>
          <a:prstGeom prst="roundRect">
            <a:avLst>
              <a:gd name="adj" fmla="val 42000"/>
            </a:avLst>
          </a:prstGeom>
          <a:solidFill>
            <a:srgbClr val="D2DDF9"/>
          </a:solidFill>
          <a:ln w="4763">
            <a:solidFill>
              <a:srgbClr val="B8C3DF"/>
            </a:solidFill>
            <a:prstDash val="solid"/>
          </a:ln>
        </p:spPr>
        <p:txBody>
          <a:bodyPr/>
          <a:lstStyle/>
          <a:p>
            <a:endParaRPr lang="en-VN" dirty="0"/>
          </a:p>
        </p:txBody>
      </p:sp>
      <p:sp>
        <p:nvSpPr>
          <p:cNvPr id="37" name="Shape 10">
            <a:extLst>
              <a:ext uri="{FF2B5EF4-FFF2-40B4-BE49-F238E27FC236}">
                <a16:creationId xmlns:a16="http://schemas.microsoft.com/office/drawing/2014/main" id="{CB71C5FF-2227-8C11-3371-75D194A659B0}"/>
              </a:ext>
            </a:extLst>
          </p:cNvPr>
          <p:cNvSpPr>
            <a:spLocks noChangeAspect="1"/>
          </p:cNvSpPr>
          <p:nvPr/>
        </p:nvSpPr>
        <p:spPr>
          <a:xfrm>
            <a:off x="10059660" y="3449491"/>
            <a:ext cx="576000" cy="576000"/>
          </a:xfrm>
          <a:prstGeom prst="roundRect">
            <a:avLst>
              <a:gd name="adj" fmla="val 114286"/>
            </a:avLst>
          </a:prstGeom>
          <a:solidFill>
            <a:srgbClr val="D2DDF9"/>
          </a:solidFill>
          <a:ln w="4763">
            <a:solidFill>
              <a:srgbClr val="B8C3DF"/>
            </a:solidFill>
            <a:prstDash val="solid"/>
          </a:ln>
        </p:spPr>
        <p:txBody>
          <a:bodyPr/>
          <a:lstStyle/>
          <a:p>
            <a:endParaRPr lang="en-VN" dirty="0"/>
          </a:p>
        </p:txBody>
      </p:sp>
      <p:pic>
        <p:nvPicPr>
          <p:cNvPr id="38" name="Image 2" descr="preencoded.png">
            <a:extLst>
              <a:ext uri="{FF2B5EF4-FFF2-40B4-BE49-F238E27FC236}">
                <a16:creationId xmlns:a16="http://schemas.microsoft.com/office/drawing/2014/main" id="{B09C6D0B-942D-5CCF-A0FD-542C018174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85660" y="3595657"/>
            <a:ext cx="324000" cy="324000"/>
          </a:xfrm>
          <a:prstGeom prst="rect">
            <a:avLst/>
          </a:prstGeom>
        </p:spPr>
      </p:pic>
      <p:sp>
        <p:nvSpPr>
          <p:cNvPr id="41" name="TextBox 40">
            <a:extLst>
              <a:ext uri="{FF2B5EF4-FFF2-40B4-BE49-F238E27FC236}">
                <a16:creationId xmlns:a16="http://schemas.microsoft.com/office/drawing/2014/main" id="{92877D2A-F3CF-775C-DD40-72C918FB5888}"/>
              </a:ext>
            </a:extLst>
          </p:cNvPr>
          <p:cNvSpPr txBox="1"/>
          <p:nvPr/>
        </p:nvSpPr>
        <p:spPr>
          <a:xfrm>
            <a:off x="1058864" y="4476571"/>
            <a:ext cx="3918627" cy="1200329"/>
          </a:xfrm>
          <a:prstGeom prst="rect">
            <a:avLst/>
          </a:prstGeom>
          <a:noFill/>
        </p:spPr>
        <p:txBody>
          <a:bodyPr wrap="square" rtlCol="0">
            <a:spAutoFit/>
          </a:bodyPr>
          <a:lstStyle/>
          <a:p>
            <a:pPr>
              <a:lnSpc>
                <a:spcPct val="150000"/>
              </a:lnSpc>
            </a:pPr>
            <a:r>
              <a:rPr lang="en-US" sz="3600" dirty="0">
                <a:solidFill>
                  <a:schemeClr val="accent6"/>
                </a:solidFill>
                <a:latin typeface="Times New Roman" panose="02020603050405020304" pitchFamily="18" charset="0"/>
                <a:ea typeface="Alexandria" pitchFamily="34" charset="-122"/>
                <a:cs typeface="Times New Roman" panose="02020603050405020304" pitchFamily="18" charset="0"/>
              </a:rPr>
              <a:t>Presentation Layer</a:t>
            </a:r>
            <a:endParaRPr lang="en-US" sz="3600" dirty="0">
              <a:solidFill>
                <a:schemeClr val="accent6"/>
              </a:solidFill>
              <a:latin typeface="Times New Roman" panose="02020603050405020304" pitchFamily="18" charset="0"/>
              <a:cs typeface="Times New Roman" panose="02020603050405020304" pitchFamily="18" charset="0"/>
            </a:endParaRPr>
          </a:p>
          <a:p>
            <a:r>
              <a:rPr lang="en-US" dirty="0">
                <a:solidFill>
                  <a:srgbClr val="404155"/>
                </a:solidFill>
                <a:latin typeface="Times New Roman" panose="02020603050405020304" pitchFamily="18" charset="0"/>
                <a:ea typeface="Nobile" pitchFamily="34" charset="-122"/>
                <a:cs typeface="Times New Roman" panose="02020603050405020304" pitchFamily="18" charset="0"/>
              </a:rPr>
              <a:t>Flutter App (User/Restaurant/Shipper)</a:t>
            </a:r>
            <a:endParaRPr lang="en-US"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CD48B62F-7F9C-CCB9-C171-293F2AD6151E}"/>
              </a:ext>
            </a:extLst>
          </p:cNvPr>
          <p:cNvSpPr txBox="1"/>
          <p:nvPr/>
        </p:nvSpPr>
        <p:spPr>
          <a:xfrm>
            <a:off x="5613660" y="4131455"/>
            <a:ext cx="4520940" cy="1200329"/>
          </a:xfrm>
          <a:prstGeom prst="rect">
            <a:avLst/>
          </a:prstGeom>
          <a:noFill/>
        </p:spPr>
        <p:txBody>
          <a:bodyPr wrap="square" rtlCol="0">
            <a:spAutoFit/>
          </a:bodyPr>
          <a:lstStyle/>
          <a:p>
            <a:pPr>
              <a:lnSpc>
                <a:spcPct val="150000"/>
              </a:lnSpc>
            </a:pPr>
            <a:r>
              <a:rPr lang="en-US" sz="3600" dirty="0">
                <a:solidFill>
                  <a:schemeClr val="accent6"/>
                </a:solidFill>
                <a:latin typeface="Times New Roman" panose="02020603050405020304" pitchFamily="18" charset="0"/>
                <a:ea typeface="Alexandria" pitchFamily="34" charset="-122"/>
                <a:cs typeface="Times New Roman" panose="02020603050405020304" pitchFamily="18" charset="0"/>
              </a:rPr>
              <a:t>Business Logic Layer</a:t>
            </a:r>
            <a:endParaRPr lang="en-US" sz="3600" dirty="0">
              <a:solidFill>
                <a:schemeClr val="accent6"/>
              </a:solidFill>
              <a:latin typeface="Times New Roman" panose="02020603050405020304" pitchFamily="18" charset="0"/>
              <a:cs typeface="Times New Roman" panose="02020603050405020304" pitchFamily="18" charset="0"/>
            </a:endParaRPr>
          </a:p>
          <a:p>
            <a:r>
              <a:rPr lang="en-US" dirty="0">
                <a:solidFill>
                  <a:srgbClr val="404155"/>
                </a:solidFill>
                <a:latin typeface="Times New Roman" panose="02020603050405020304" pitchFamily="18" charset="0"/>
                <a:ea typeface="Nobile" pitchFamily="34" charset="-122"/>
                <a:cs typeface="Times New Roman" panose="02020603050405020304" pitchFamily="18" charset="0"/>
              </a:rPr>
              <a:t>Node.js +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Express.js</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(REST API)</a:t>
            </a:r>
            <a:endParaRPr lang="en-US"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D812AA9D-2A59-71F2-7D14-723B8B33E568}"/>
              </a:ext>
            </a:extLst>
          </p:cNvPr>
          <p:cNvSpPr txBox="1"/>
          <p:nvPr/>
        </p:nvSpPr>
        <p:spPr>
          <a:xfrm>
            <a:off x="10185660" y="3938776"/>
            <a:ext cx="4520940" cy="1012008"/>
          </a:xfrm>
          <a:prstGeom prst="rect">
            <a:avLst/>
          </a:prstGeom>
          <a:noFill/>
        </p:spPr>
        <p:txBody>
          <a:bodyPr wrap="square" rtlCol="0">
            <a:spAutoFit/>
          </a:bodyPr>
          <a:lstStyle/>
          <a:p>
            <a:r>
              <a:rPr lang="en-US" sz="3600" dirty="0">
                <a:solidFill>
                  <a:schemeClr val="accent6"/>
                </a:solidFill>
                <a:latin typeface="Times New Roman" panose="02020603050405020304" pitchFamily="18" charset="0"/>
                <a:ea typeface="Alexandria" pitchFamily="34" charset="-122"/>
                <a:cs typeface="Times New Roman" panose="02020603050405020304" pitchFamily="18" charset="0"/>
              </a:rPr>
              <a:t>Data Access Layer</a:t>
            </a:r>
            <a:endParaRPr lang="en-US" sz="3600"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Prisma ORM → PostgreSQL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Supabase</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44" name="Image 3" descr="preencoded.png">
            <a:extLst>
              <a:ext uri="{FF2B5EF4-FFF2-40B4-BE49-F238E27FC236}">
                <a16:creationId xmlns:a16="http://schemas.microsoft.com/office/drawing/2014/main" id="{0C4E05A3-1C73-791D-A3D3-069929AB0AD7}"/>
              </a:ext>
            </a:extLst>
          </p:cNvPr>
          <p:cNvPicPr>
            <a:picLocks noChangeAspect="1"/>
          </p:cNvPicPr>
          <p:nvPr/>
        </p:nvPicPr>
        <p:blipFill>
          <a:blip r:embed="rId10"/>
          <a:stretch>
            <a:fillRect/>
          </a:stretch>
        </p:blipFill>
        <p:spPr>
          <a:xfrm>
            <a:off x="13055792" y="4452078"/>
            <a:ext cx="4288712" cy="4288712"/>
          </a:xfrm>
          <a:prstGeom prst="rect">
            <a:avLst/>
          </a:prstGeom>
        </p:spPr>
      </p:pic>
      <p:sp>
        <p:nvSpPr>
          <p:cNvPr id="45" name="TextBox 44">
            <a:extLst>
              <a:ext uri="{FF2B5EF4-FFF2-40B4-BE49-F238E27FC236}">
                <a16:creationId xmlns:a16="http://schemas.microsoft.com/office/drawing/2014/main" id="{55D4DF5A-9581-90B3-A594-2A54F265DCFB}"/>
              </a:ext>
            </a:extLst>
          </p:cNvPr>
          <p:cNvSpPr txBox="1"/>
          <p:nvPr/>
        </p:nvSpPr>
        <p:spPr>
          <a:xfrm>
            <a:off x="1292565" y="6672277"/>
            <a:ext cx="9556136" cy="1107996"/>
          </a:xfrm>
          <a:prstGeom prst="rect">
            <a:avLst/>
          </a:prstGeom>
          <a:noFill/>
        </p:spPr>
        <p:txBody>
          <a:bodyPr wrap="square" rtlCol="0">
            <a:spAutoFit/>
          </a:bodyPr>
          <a:lstStyle/>
          <a:p>
            <a:r>
              <a:rPr lang="en-US" sz="2800" b="1" dirty="0" err="1">
                <a:solidFill>
                  <a:srgbClr val="15458C"/>
                </a:solidFill>
                <a:latin typeface="Times New Roman" panose="02020603050405020304" pitchFamily="18" charset="0"/>
                <a:ea typeface="Nobile" pitchFamily="34" charset="-122"/>
                <a:cs typeface="Times New Roman" panose="02020603050405020304" pitchFamily="18" charset="0"/>
              </a:rPr>
              <a:t>Phạm</a:t>
            </a:r>
            <a:r>
              <a:rPr lang="en-US" sz="2800" b="1" dirty="0">
                <a:solidFill>
                  <a:srgbClr val="15458C"/>
                </a:solidFill>
                <a:latin typeface="Times New Roman" panose="02020603050405020304" pitchFamily="18" charset="0"/>
                <a:ea typeface="Nobile" pitchFamily="34" charset="-122"/>
                <a:cs typeface="Times New Roman" panose="02020603050405020304" pitchFamily="18" charset="0"/>
              </a:rPr>
              <a:t> vi:</a:t>
            </a:r>
            <a:r>
              <a:rPr lang="en-US" sz="2800" b="1"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3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phân</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hệ</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trong</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1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ứng</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dụng</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với</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quy</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trình</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end-to-end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từ</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tìm</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kiếm</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đặt</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hàng</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xác</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nhận</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giao</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hàng</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hoàn</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000" dirty="0" err="1">
                <a:solidFill>
                  <a:srgbClr val="404155"/>
                </a:solidFill>
                <a:latin typeface="Times New Roman" panose="02020603050405020304" pitchFamily="18" charset="0"/>
                <a:ea typeface="Nobile" pitchFamily="34" charset="-122"/>
                <a:cs typeface="Times New Roman" panose="02020603050405020304" pitchFamily="18" charset="0"/>
              </a:rPr>
              <a:t>thành</a:t>
            </a:r>
            <a:r>
              <a:rPr lang="en-US" sz="2000" dirty="0">
                <a:solidFill>
                  <a:srgbClr val="404155"/>
                </a:solidFill>
                <a:latin typeface="Times New Roman" panose="02020603050405020304" pitchFamily="18" charset="0"/>
                <a:ea typeface="Nobile"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VN" dirty="0"/>
          </a:p>
        </p:txBody>
      </p:sp>
    </p:spTree>
    <p:extLst>
      <p:ext uri="{BB962C8B-B14F-4D97-AF65-F5344CB8AC3E}">
        <p14:creationId xmlns:p14="http://schemas.microsoft.com/office/powerpoint/2010/main" val="175081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3" name="Group 3"/>
          <p:cNvGrpSpPr/>
          <p:nvPr/>
        </p:nvGrpSpPr>
        <p:grpSpPr>
          <a:xfrm>
            <a:off x="3670135" y="3390900"/>
            <a:ext cx="1028643" cy="1057244"/>
            <a:chOff x="0" y="0"/>
            <a:chExt cx="1371524" cy="140965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5" name="TextBox 5"/>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7200" b="1" dirty="0">
                  <a:solidFill>
                    <a:srgbClr val="FFFFFF"/>
                  </a:solidFill>
                  <a:latin typeface="Cambria" panose="02040503050406030204" pitchFamily="18" charset="0"/>
                  <a:ea typeface="Cambria" panose="02040503050406030204" pitchFamily="18" charset="0"/>
                  <a:cs typeface="Cambria Bold"/>
                  <a:sym typeface="Cambria Bold"/>
                </a:rPr>
                <a:t>2</a:t>
              </a:r>
            </a:p>
          </p:txBody>
        </p:sp>
      </p:grpSp>
      <p:sp>
        <p:nvSpPr>
          <p:cNvPr id="6" name="TextBox 6"/>
          <p:cNvSpPr txBox="1"/>
          <p:nvPr/>
        </p:nvSpPr>
        <p:spPr>
          <a:xfrm>
            <a:off x="1785821" y="4869469"/>
            <a:ext cx="6062779" cy="1106585"/>
          </a:xfrm>
          <a:prstGeom prst="rect">
            <a:avLst/>
          </a:prstGeom>
        </p:spPr>
        <p:txBody>
          <a:bodyPr wrap="square" lIns="0" tIns="0" rIns="0" bIns="0" rtlCol="0" anchor="t">
            <a:spAutoFit/>
          </a:bodyPr>
          <a:lstStyle/>
          <a:p>
            <a:pPr>
              <a:lnSpc>
                <a:spcPct val="120000"/>
              </a:lnSpc>
            </a:pPr>
            <a:r>
              <a:rPr lang="en-US" sz="6600" dirty="0" err="1">
                <a:solidFill>
                  <a:srgbClr val="16458C"/>
                </a:solidFill>
                <a:latin typeface="Cambria" panose="02040503050406030204" pitchFamily="18" charset="0"/>
                <a:ea typeface="Cambria" panose="02040503050406030204" pitchFamily="18" charset="0"/>
                <a:cs typeface="Cambria"/>
                <a:sym typeface="Cambria"/>
              </a:rPr>
              <a:t>Thực</a:t>
            </a:r>
            <a:r>
              <a:rPr lang="en-US" sz="6600" dirty="0">
                <a:solidFill>
                  <a:srgbClr val="16458C"/>
                </a:solidFill>
                <a:latin typeface="Cambria" panose="02040503050406030204" pitchFamily="18" charset="0"/>
                <a:ea typeface="Cambria" panose="02040503050406030204" pitchFamily="18" charset="0"/>
                <a:cs typeface="Cambria"/>
                <a:sym typeface="Cambria"/>
              </a:rPr>
              <a:t> </a:t>
            </a:r>
            <a:r>
              <a:rPr lang="en-US" sz="6600" dirty="0" err="1">
                <a:solidFill>
                  <a:srgbClr val="16458C"/>
                </a:solidFill>
                <a:latin typeface="Cambria" panose="02040503050406030204" pitchFamily="18" charset="0"/>
                <a:ea typeface="Cambria" panose="02040503050406030204" pitchFamily="18" charset="0"/>
                <a:cs typeface="Cambria"/>
                <a:sym typeface="Cambria"/>
              </a:rPr>
              <a:t>nghiệm</a:t>
            </a:r>
            <a:endParaRPr lang="en-US" sz="6600" dirty="0">
              <a:solidFill>
                <a:srgbClr val="16458C"/>
              </a:solidFill>
              <a:latin typeface="Cambria" panose="02040503050406030204" pitchFamily="18" charset="0"/>
              <a:ea typeface="Cambria" panose="02040503050406030204" pitchFamily="18" charset="0"/>
              <a:cs typeface="Cambria"/>
              <a:sym typeface="Cambria"/>
            </a:endParaRPr>
          </a:p>
        </p:txBody>
      </p:sp>
      <p:grpSp>
        <p:nvGrpSpPr>
          <p:cNvPr id="16" name="Group 15">
            <a:extLst>
              <a:ext uri="{FF2B5EF4-FFF2-40B4-BE49-F238E27FC236}">
                <a16:creationId xmlns:a16="http://schemas.microsoft.com/office/drawing/2014/main" id="{7414A195-912B-588C-144A-320FF0B1928B}"/>
              </a:ext>
            </a:extLst>
          </p:cNvPr>
          <p:cNvGrpSpPr/>
          <p:nvPr/>
        </p:nvGrpSpPr>
        <p:grpSpPr>
          <a:xfrm>
            <a:off x="8388492" y="3034194"/>
            <a:ext cx="12185508" cy="1196418"/>
            <a:chOff x="8252935" y="2950586"/>
            <a:chExt cx="12185508" cy="1196418"/>
          </a:xfrm>
        </p:grpSpPr>
        <p:sp>
          <p:nvSpPr>
            <p:cNvPr id="17" name="TextBox 7">
              <a:extLst>
                <a:ext uri="{FF2B5EF4-FFF2-40B4-BE49-F238E27FC236}">
                  <a16:creationId xmlns:a16="http://schemas.microsoft.com/office/drawing/2014/main" id="{09AB5500-DDA0-705F-37C5-935A8284019D}"/>
                </a:ext>
              </a:extLst>
            </p:cNvPr>
            <p:cNvSpPr txBox="1"/>
            <p:nvPr/>
          </p:nvSpPr>
          <p:spPr>
            <a:xfrm>
              <a:off x="8578033" y="2950586"/>
              <a:ext cx="11860410" cy="1196418"/>
            </a:xfrm>
            <a:prstGeom prst="rect">
              <a:avLst/>
            </a:prstGeom>
          </p:spPr>
          <p:txBody>
            <a:bodyPr wrap="square" lIns="0" tIns="0" rIns="0" bIns="0" rtlCol="0" anchor="t">
              <a:spAutoFit/>
            </a:bodyPr>
            <a:lstStyle/>
            <a:p>
              <a:pPr>
                <a:lnSpc>
                  <a:spcPts val="10800"/>
                </a:lnSpc>
              </a:pPr>
              <a:r>
                <a:rPr lang="en-US" sz="4800" dirty="0" err="1">
                  <a:solidFill>
                    <a:srgbClr val="15458C"/>
                  </a:solidFill>
                  <a:latin typeface="Times New Roman" panose="02020603050405020304" pitchFamily="18" charset="0"/>
                  <a:ea typeface="Alexandria" pitchFamily="34" charset="-122"/>
                  <a:cs typeface="Times New Roman" panose="02020603050405020304" pitchFamily="18" charset="0"/>
                </a:rPr>
                <a:t>Phân</a:t>
              </a:r>
              <a:r>
                <a:rPr lang="en-US" sz="4800"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dirty="0" err="1">
                  <a:solidFill>
                    <a:srgbClr val="15458C"/>
                  </a:solidFill>
                  <a:latin typeface="Times New Roman" panose="02020603050405020304" pitchFamily="18" charset="0"/>
                  <a:ea typeface="Alexandria" pitchFamily="34" charset="-122"/>
                  <a:cs typeface="Times New Roman" panose="02020603050405020304" pitchFamily="18" charset="0"/>
                </a:rPr>
                <a:t>hệ</a:t>
              </a:r>
              <a:r>
                <a:rPr lang="en-US" sz="4800"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dirty="0" err="1">
                  <a:solidFill>
                    <a:srgbClr val="15458C"/>
                  </a:solidFill>
                  <a:latin typeface="Times New Roman" panose="02020603050405020304" pitchFamily="18" charset="0"/>
                  <a:ea typeface="Alexandria" pitchFamily="34" charset="-122"/>
                  <a:cs typeface="Times New Roman" panose="02020603050405020304" pitchFamily="18" charset="0"/>
                </a:rPr>
                <a:t>người</a:t>
              </a:r>
              <a:r>
                <a:rPr lang="en-US" sz="4800" dirty="0">
                  <a:solidFill>
                    <a:srgbClr val="15458C"/>
                  </a:solidFill>
                  <a:latin typeface="Times New Roman" panose="02020603050405020304" pitchFamily="18" charset="0"/>
                  <a:ea typeface="Alexandria" pitchFamily="34" charset="-122"/>
                  <a:cs typeface="Times New Roman" panose="02020603050405020304" pitchFamily="18" charset="0"/>
                </a:rPr>
                <a:t> </a:t>
              </a:r>
              <a:r>
                <a:rPr lang="en-US" sz="4800" dirty="0" err="1">
                  <a:solidFill>
                    <a:srgbClr val="15458C"/>
                  </a:solidFill>
                  <a:latin typeface="Times New Roman" panose="02020603050405020304" pitchFamily="18" charset="0"/>
                  <a:ea typeface="Alexandria" pitchFamily="34" charset="-122"/>
                  <a:cs typeface="Times New Roman" panose="02020603050405020304" pitchFamily="18" charset="0"/>
                </a:rPr>
                <a:t>dùng</a:t>
              </a:r>
              <a:endParaRPr lang="en-US" sz="4800" dirty="0">
                <a:solidFill>
                  <a:srgbClr val="15458C"/>
                </a:solidFill>
                <a:latin typeface="Times New Roman" panose="02020603050405020304" pitchFamily="18" charset="0"/>
                <a:ea typeface="Cambria" panose="02040503050406030204" pitchFamily="18" charset="0"/>
                <a:cs typeface="Times New Roman" panose="02020603050405020304" pitchFamily="18" charset="0"/>
                <a:sym typeface="Cambria"/>
              </a:endParaRPr>
            </a:p>
          </p:txBody>
        </p:sp>
        <p:cxnSp>
          <p:nvCxnSpPr>
            <p:cNvPr id="18" name="Straight Connector 17">
              <a:extLst>
                <a:ext uri="{FF2B5EF4-FFF2-40B4-BE49-F238E27FC236}">
                  <a16:creationId xmlns:a16="http://schemas.microsoft.com/office/drawing/2014/main" id="{8EBE2FE6-736F-06BC-15FE-3A9BBF50771C}"/>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97D72042-309D-5506-BEB3-F9C579FD74A0}"/>
              </a:ext>
            </a:extLst>
          </p:cNvPr>
          <p:cNvGrpSpPr/>
          <p:nvPr/>
        </p:nvGrpSpPr>
        <p:grpSpPr>
          <a:xfrm>
            <a:off x="8396513" y="4420759"/>
            <a:ext cx="12157434" cy="1196225"/>
            <a:chOff x="8252935" y="2941902"/>
            <a:chExt cx="12157434" cy="1196225"/>
          </a:xfrm>
        </p:grpSpPr>
        <p:sp>
          <p:nvSpPr>
            <p:cNvPr id="20" name="TextBox 7">
              <a:extLst>
                <a:ext uri="{FF2B5EF4-FFF2-40B4-BE49-F238E27FC236}">
                  <a16:creationId xmlns:a16="http://schemas.microsoft.com/office/drawing/2014/main" id="{35C2D16A-B4F1-9644-D8A0-52B994FB2D9C}"/>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dirty="0" err="1">
                  <a:solidFill>
                    <a:srgbClr val="16458C"/>
                  </a:solidFill>
                  <a:latin typeface="Cambria" panose="02040503050406030204" pitchFamily="18" charset="0"/>
                  <a:ea typeface="Cambria" panose="02040503050406030204" pitchFamily="18" charset="0"/>
                  <a:cs typeface="Cambria"/>
                  <a:sym typeface="Cambria"/>
                </a:rPr>
                <a:t>Phân</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hệ</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nhà</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hàng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21" name="Straight Connector 20">
              <a:extLst>
                <a:ext uri="{FF2B5EF4-FFF2-40B4-BE49-F238E27FC236}">
                  <a16:creationId xmlns:a16="http://schemas.microsoft.com/office/drawing/2014/main" id="{14E7EF64-CA21-981B-CD18-AF6FB5CA719F}"/>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4CF2AA81-AA87-D15E-7EF4-16877C715744}"/>
              </a:ext>
            </a:extLst>
          </p:cNvPr>
          <p:cNvGrpSpPr/>
          <p:nvPr/>
        </p:nvGrpSpPr>
        <p:grpSpPr>
          <a:xfrm>
            <a:off x="8382449" y="5829300"/>
            <a:ext cx="12157434" cy="1196225"/>
            <a:chOff x="8252935" y="2941902"/>
            <a:chExt cx="12157434" cy="1196225"/>
          </a:xfrm>
        </p:grpSpPr>
        <p:sp>
          <p:nvSpPr>
            <p:cNvPr id="26" name="TextBox 7">
              <a:extLst>
                <a:ext uri="{FF2B5EF4-FFF2-40B4-BE49-F238E27FC236}">
                  <a16:creationId xmlns:a16="http://schemas.microsoft.com/office/drawing/2014/main" id="{F4056494-C062-E162-4468-2A3DCEA932F1}"/>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dirty="0" err="1">
                  <a:solidFill>
                    <a:srgbClr val="16458C"/>
                  </a:solidFill>
                  <a:latin typeface="Cambria" panose="02040503050406030204" pitchFamily="18" charset="0"/>
                  <a:ea typeface="Cambria" panose="02040503050406030204" pitchFamily="18" charset="0"/>
                  <a:cs typeface="Cambria"/>
                  <a:sym typeface="Cambria"/>
                </a:rPr>
                <a:t>Phân</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hệ</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tài</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xế</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27" name="Straight Connector 26">
              <a:extLst>
                <a:ext uri="{FF2B5EF4-FFF2-40B4-BE49-F238E27FC236}">
                  <a16:creationId xmlns:a16="http://schemas.microsoft.com/office/drawing/2014/main" id="{0CBE08DA-2F20-EBFC-BBBD-356F7F1DCA13}"/>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1F56F-46DA-2418-84C4-CC3A25E4925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B8AE21F-24C4-CA61-6FC9-64CF32EF72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5" name="Group 4">
            <a:extLst>
              <a:ext uri="{FF2B5EF4-FFF2-40B4-BE49-F238E27FC236}">
                <a16:creationId xmlns:a16="http://schemas.microsoft.com/office/drawing/2014/main" id="{4A9EF983-C095-D360-F13F-802E69D4D0C9}"/>
              </a:ext>
            </a:extLst>
          </p:cNvPr>
          <p:cNvGrpSpPr/>
          <p:nvPr/>
        </p:nvGrpSpPr>
        <p:grpSpPr>
          <a:xfrm>
            <a:off x="914400" y="1638300"/>
            <a:ext cx="12157434" cy="1196225"/>
            <a:chOff x="8252935" y="2941902"/>
            <a:chExt cx="12157434" cy="1196225"/>
          </a:xfrm>
        </p:grpSpPr>
        <p:sp>
          <p:nvSpPr>
            <p:cNvPr id="6" name="TextBox 7">
              <a:extLst>
                <a:ext uri="{FF2B5EF4-FFF2-40B4-BE49-F238E27FC236}">
                  <a16:creationId xmlns:a16="http://schemas.microsoft.com/office/drawing/2014/main" id="{1DC8A47D-BF5C-35C8-915E-6D8D3A6755F6}"/>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dirty="0" err="1">
                  <a:solidFill>
                    <a:srgbClr val="16458C"/>
                  </a:solidFill>
                  <a:latin typeface="Cambria" panose="02040503050406030204" pitchFamily="18" charset="0"/>
                  <a:ea typeface="Cambria" panose="02040503050406030204" pitchFamily="18" charset="0"/>
                  <a:cs typeface="Cambria"/>
                  <a:sym typeface="Cambria"/>
                </a:rPr>
                <a:t>Phân</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hệ</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người</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dùng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9" name="Straight Connector 8">
              <a:extLst>
                <a:ext uri="{FF2B5EF4-FFF2-40B4-BE49-F238E27FC236}">
                  <a16:creationId xmlns:a16="http://schemas.microsoft.com/office/drawing/2014/main" id="{4D4A16CA-EC0D-AB89-4D90-E0A030A203D1}"/>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4" name="Image 0" descr="preencoded.png">
            <a:extLst>
              <a:ext uri="{FF2B5EF4-FFF2-40B4-BE49-F238E27FC236}">
                <a16:creationId xmlns:a16="http://schemas.microsoft.com/office/drawing/2014/main" id="{4EF4266C-9A35-5E15-2F69-3EBC767B5A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44328" y="3665434"/>
            <a:ext cx="731158" cy="731158"/>
          </a:xfrm>
          <a:prstGeom prst="rect">
            <a:avLst/>
          </a:prstGeom>
        </p:spPr>
      </p:pic>
      <p:sp>
        <p:nvSpPr>
          <p:cNvPr id="8" name="Text 1">
            <a:extLst>
              <a:ext uri="{FF2B5EF4-FFF2-40B4-BE49-F238E27FC236}">
                <a16:creationId xmlns:a16="http://schemas.microsoft.com/office/drawing/2014/main" id="{09EDAE7F-B652-88B4-E334-830C28D8F2D4}"/>
              </a:ext>
            </a:extLst>
          </p:cNvPr>
          <p:cNvSpPr/>
          <p:nvPr/>
        </p:nvSpPr>
        <p:spPr>
          <a:xfrm>
            <a:off x="3949239" y="4013403"/>
            <a:ext cx="3964923" cy="457086"/>
          </a:xfrm>
          <a:prstGeom prst="rect">
            <a:avLst/>
          </a:prstGeom>
          <a:noFill/>
          <a:ln/>
        </p:spPr>
        <p:txBody>
          <a:bodyPr wrap="none" lIns="0" tIns="0" rIns="0" bIns="0" rtlCol="0" anchor="t"/>
          <a:lstStyle/>
          <a:p>
            <a:pPr marL="0" indent="0" algn="l">
              <a:lnSpc>
                <a:spcPts val="1500"/>
              </a:lnSpc>
              <a:buNone/>
            </a:pPr>
            <a:r>
              <a:rPr lang="en-US" sz="3600" dirty="0">
                <a:solidFill>
                  <a:srgbClr val="404155"/>
                </a:solidFill>
                <a:latin typeface="Times New Roman" panose="02020603050405020304" pitchFamily="18" charset="0"/>
                <a:ea typeface="Alexandria" pitchFamily="34" charset="-122"/>
                <a:cs typeface="Times New Roman" panose="02020603050405020304" pitchFamily="18" charset="0"/>
              </a:rPr>
              <a:t>Đăng ký / Đăng nhập</a:t>
            </a:r>
            <a:endParaRPr lang="en-US" sz="36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8A915788-2FA0-60E6-5AC8-5445CC4352D6}"/>
              </a:ext>
            </a:extLst>
          </p:cNvPr>
          <p:cNvSpPr/>
          <p:nvPr/>
        </p:nvSpPr>
        <p:spPr>
          <a:xfrm>
            <a:off x="3949239" y="4415681"/>
            <a:ext cx="3533254"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Firebase Auth (Email, Google, OTP)</a:t>
            </a:r>
            <a:endParaRPr lang="en-US" dirty="0">
              <a:latin typeface="Times New Roman" panose="02020603050405020304" pitchFamily="18" charset="0"/>
              <a:cs typeface="Times New Roman" panose="02020603050405020304" pitchFamily="18" charset="0"/>
            </a:endParaRPr>
          </a:p>
        </p:txBody>
      </p:sp>
      <p:pic>
        <p:nvPicPr>
          <p:cNvPr id="11" name="Image 1" descr="preencoded.png">
            <a:extLst>
              <a:ext uri="{FF2B5EF4-FFF2-40B4-BE49-F238E27FC236}">
                <a16:creationId xmlns:a16="http://schemas.microsoft.com/office/drawing/2014/main" id="{9128CFEE-BAC4-7A76-033E-05D0684820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42605" y="3706713"/>
            <a:ext cx="731158" cy="731158"/>
          </a:xfrm>
          <a:prstGeom prst="rect">
            <a:avLst/>
          </a:prstGeom>
        </p:spPr>
      </p:pic>
      <p:sp>
        <p:nvSpPr>
          <p:cNvPr id="12" name="Text 3">
            <a:extLst>
              <a:ext uri="{FF2B5EF4-FFF2-40B4-BE49-F238E27FC236}">
                <a16:creationId xmlns:a16="http://schemas.microsoft.com/office/drawing/2014/main" id="{5CCB7DF0-1C8A-05E5-751E-C72732ECF607}"/>
              </a:ext>
            </a:extLst>
          </p:cNvPr>
          <p:cNvSpPr/>
          <p:nvPr/>
        </p:nvSpPr>
        <p:spPr>
          <a:xfrm>
            <a:off x="10975191" y="4015368"/>
            <a:ext cx="1550566" cy="457086"/>
          </a:xfrm>
          <a:prstGeom prst="rect">
            <a:avLst/>
          </a:prstGeom>
          <a:noFill/>
          <a:ln/>
        </p:spPr>
        <p:txBody>
          <a:bodyPr wrap="none" lIns="0" tIns="0" rIns="0" bIns="0" rtlCol="0" anchor="t"/>
          <a:lstStyle/>
          <a:p>
            <a:pPr marL="0" indent="0" algn="l">
              <a:lnSpc>
                <a:spcPts val="1500"/>
              </a:lnSpc>
              <a:buNone/>
            </a:pPr>
            <a:r>
              <a:rPr lang="en-US" sz="3600" dirty="0">
                <a:latin typeface="Times New Roman" panose="02020603050405020304" pitchFamily="18" charset="0"/>
                <a:cs typeface="Times New Roman" panose="02020603050405020304" pitchFamily="18" charset="0"/>
              </a:rPr>
              <a:t>Trang </a:t>
            </a:r>
            <a:r>
              <a:rPr lang="en-US" sz="3600" dirty="0" err="1">
                <a:latin typeface="Times New Roman" panose="02020603050405020304" pitchFamily="18" charset="0"/>
                <a:cs typeface="Times New Roman" panose="02020603050405020304" pitchFamily="18" charset="0"/>
              </a:rPr>
              <a:t>chủ</a:t>
            </a:r>
            <a:endParaRPr lang="en-US" sz="3600" dirty="0">
              <a:latin typeface="Times New Roman" panose="02020603050405020304" pitchFamily="18" charset="0"/>
              <a:cs typeface="Times New Roman" panose="02020603050405020304" pitchFamily="18" charset="0"/>
            </a:endParaRPr>
          </a:p>
        </p:txBody>
      </p:sp>
      <p:sp>
        <p:nvSpPr>
          <p:cNvPr id="13" name="Text 4">
            <a:extLst>
              <a:ext uri="{FF2B5EF4-FFF2-40B4-BE49-F238E27FC236}">
                <a16:creationId xmlns:a16="http://schemas.microsoft.com/office/drawing/2014/main" id="{35D292FC-155C-CFAD-A607-88D6790926CD}"/>
              </a:ext>
            </a:extLst>
          </p:cNvPr>
          <p:cNvSpPr/>
          <p:nvPr/>
        </p:nvSpPr>
        <p:spPr>
          <a:xfrm>
            <a:off x="11020871" y="4396592"/>
            <a:ext cx="3533329"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Danh sách nhà hàng, danh mục, tìm kiếm</a:t>
            </a:r>
            <a:endParaRPr lang="en-US" dirty="0">
              <a:latin typeface="Times New Roman" panose="02020603050405020304" pitchFamily="18" charset="0"/>
              <a:cs typeface="Times New Roman" panose="02020603050405020304" pitchFamily="18" charset="0"/>
            </a:endParaRPr>
          </a:p>
        </p:txBody>
      </p:sp>
      <p:pic>
        <p:nvPicPr>
          <p:cNvPr id="14" name="Image 2" descr="preencoded.png">
            <a:extLst>
              <a:ext uri="{FF2B5EF4-FFF2-40B4-BE49-F238E27FC236}">
                <a16:creationId xmlns:a16="http://schemas.microsoft.com/office/drawing/2014/main" id="{B544B313-0930-8B0B-0CCA-6BAB993863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44328" y="5307381"/>
            <a:ext cx="731158" cy="731158"/>
          </a:xfrm>
          <a:prstGeom prst="rect">
            <a:avLst/>
          </a:prstGeom>
        </p:spPr>
      </p:pic>
      <p:sp>
        <p:nvSpPr>
          <p:cNvPr id="15" name="Text 5">
            <a:extLst>
              <a:ext uri="{FF2B5EF4-FFF2-40B4-BE49-F238E27FC236}">
                <a16:creationId xmlns:a16="http://schemas.microsoft.com/office/drawing/2014/main" id="{33CCAA30-AF8A-BFF4-E65E-6919AB23D705}"/>
              </a:ext>
            </a:extLst>
          </p:cNvPr>
          <p:cNvSpPr/>
          <p:nvPr/>
        </p:nvSpPr>
        <p:spPr>
          <a:xfrm>
            <a:off x="3876131" y="5631542"/>
            <a:ext cx="1550566" cy="457086"/>
          </a:xfrm>
          <a:prstGeom prst="rect">
            <a:avLst/>
          </a:prstGeom>
          <a:noFill/>
          <a:ln/>
        </p:spPr>
        <p:txBody>
          <a:bodyPr wrap="none" lIns="0" tIns="0" rIns="0" bIns="0" rtlCol="0" anchor="t"/>
          <a:lstStyle/>
          <a:p>
            <a:pPr marL="0" indent="0" algn="l">
              <a:lnSpc>
                <a:spcPts val="1500"/>
              </a:lnSpc>
              <a:buNone/>
            </a:pPr>
            <a:r>
              <a:rPr lang="en-US" sz="3600" dirty="0">
                <a:solidFill>
                  <a:srgbClr val="404155"/>
                </a:solidFill>
                <a:latin typeface="Times New Roman" panose="02020603050405020304" pitchFamily="18" charset="0"/>
                <a:ea typeface="Alexandria" pitchFamily="34" charset="-122"/>
                <a:cs typeface="Times New Roman" panose="02020603050405020304" pitchFamily="18" charset="0"/>
              </a:rPr>
              <a:t>Chi tiết món ăn</a:t>
            </a:r>
            <a:endParaRPr lang="en-US" sz="3600" dirty="0">
              <a:latin typeface="Times New Roman" panose="02020603050405020304" pitchFamily="18" charset="0"/>
              <a:cs typeface="Times New Roman" panose="02020603050405020304" pitchFamily="18" charset="0"/>
            </a:endParaRPr>
          </a:p>
        </p:txBody>
      </p:sp>
      <p:sp>
        <p:nvSpPr>
          <p:cNvPr id="16" name="Text 6">
            <a:extLst>
              <a:ext uri="{FF2B5EF4-FFF2-40B4-BE49-F238E27FC236}">
                <a16:creationId xmlns:a16="http://schemas.microsoft.com/office/drawing/2014/main" id="{ACF8A6CD-EDC1-D652-E5C6-C35A4798136C}"/>
              </a:ext>
            </a:extLst>
          </p:cNvPr>
          <p:cNvSpPr/>
          <p:nvPr/>
        </p:nvSpPr>
        <p:spPr>
          <a:xfrm>
            <a:off x="3857843" y="6065084"/>
            <a:ext cx="3533254"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Tùy chọn size/topping, thêm giỏ hàng</a:t>
            </a:r>
            <a:endParaRPr lang="en-US" dirty="0">
              <a:latin typeface="Times New Roman" panose="02020603050405020304" pitchFamily="18" charset="0"/>
              <a:cs typeface="Times New Roman" panose="02020603050405020304" pitchFamily="18" charset="0"/>
            </a:endParaRPr>
          </a:p>
        </p:txBody>
      </p:sp>
      <p:pic>
        <p:nvPicPr>
          <p:cNvPr id="17" name="Image 3" descr="preencoded.png">
            <a:extLst>
              <a:ext uri="{FF2B5EF4-FFF2-40B4-BE49-F238E27FC236}">
                <a16:creationId xmlns:a16="http://schemas.microsoft.com/office/drawing/2014/main" id="{89222B07-2BEE-1CF1-E9EA-D544D3B08C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14476" y="5265963"/>
            <a:ext cx="731158" cy="731158"/>
          </a:xfrm>
          <a:prstGeom prst="rect">
            <a:avLst/>
          </a:prstGeom>
        </p:spPr>
      </p:pic>
      <p:sp>
        <p:nvSpPr>
          <p:cNvPr id="18" name="Text 7">
            <a:extLst>
              <a:ext uri="{FF2B5EF4-FFF2-40B4-BE49-F238E27FC236}">
                <a16:creationId xmlns:a16="http://schemas.microsoft.com/office/drawing/2014/main" id="{955C256F-6A2E-C52E-6FBD-B73C5E407B81}"/>
              </a:ext>
            </a:extLst>
          </p:cNvPr>
          <p:cNvSpPr/>
          <p:nvPr/>
        </p:nvSpPr>
        <p:spPr>
          <a:xfrm>
            <a:off x="10976676" y="5611444"/>
            <a:ext cx="1550566" cy="457086"/>
          </a:xfrm>
          <a:prstGeom prst="rect">
            <a:avLst/>
          </a:prstGeom>
          <a:noFill/>
          <a:ln/>
        </p:spPr>
        <p:txBody>
          <a:bodyPr wrap="none" lIns="0" tIns="0" rIns="0" bIns="0" rtlCol="0" anchor="t"/>
          <a:lstStyle/>
          <a:p>
            <a:pPr>
              <a:lnSpc>
                <a:spcPts val="1500"/>
              </a:lnSpc>
            </a:pPr>
            <a:r>
              <a:rPr lang="en-US" sz="3600" dirty="0" err="1">
                <a:solidFill>
                  <a:srgbClr val="404155"/>
                </a:solidFill>
                <a:latin typeface="Times New Roman" panose="02020603050405020304" pitchFamily="18" charset="0"/>
                <a:ea typeface="Alexandria" pitchFamily="34" charset="-122"/>
                <a:cs typeface="Times New Roman" panose="02020603050405020304" pitchFamily="18" charset="0"/>
              </a:rPr>
              <a:t>Giỏ</a:t>
            </a:r>
            <a:r>
              <a:rPr lang="en-US" sz="3600"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endParaRPr lang="en-US" sz="3600" dirty="0">
              <a:latin typeface="Times New Roman" panose="02020603050405020304" pitchFamily="18" charset="0"/>
              <a:cs typeface="Times New Roman" panose="02020603050405020304" pitchFamily="18" charset="0"/>
            </a:endParaRPr>
          </a:p>
        </p:txBody>
      </p:sp>
      <p:sp>
        <p:nvSpPr>
          <p:cNvPr id="19" name="Text 8">
            <a:extLst>
              <a:ext uri="{FF2B5EF4-FFF2-40B4-BE49-F238E27FC236}">
                <a16:creationId xmlns:a16="http://schemas.microsoft.com/office/drawing/2014/main" id="{94A387DE-A424-F46F-514C-F51D1F412C70}"/>
              </a:ext>
            </a:extLst>
          </p:cNvPr>
          <p:cNvSpPr/>
          <p:nvPr/>
        </p:nvSpPr>
        <p:spPr>
          <a:xfrm>
            <a:off x="10975191" y="5937749"/>
            <a:ext cx="3533329"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Quản lý số lượng, tổng tiền</a:t>
            </a:r>
            <a:endParaRPr lang="en-US" dirty="0">
              <a:latin typeface="Times New Roman" panose="02020603050405020304" pitchFamily="18" charset="0"/>
              <a:cs typeface="Times New Roman" panose="02020603050405020304" pitchFamily="18" charset="0"/>
            </a:endParaRPr>
          </a:p>
        </p:txBody>
      </p:sp>
      <p:pic>
        <p:nvPicPr>
          <p:cNvPr id="20" name="Image 4" descr="preencoded.png">
            <a:extLst>
              <a:ext uri="{FF2B5EF4-FFF2-40B4-BE49-F238E27FC236}">
                <a16:creationId xmlns:a16="http://schemas.microsoft.com/office/drawing/2014/main" id="{6DFC5212-E2DB-43EB-6DF0-ADF5B84AA84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44328" y="6949328"/>
            <a:ext cx="731158" cy="731158"/>
          </a:xfrm>
          <a:prstGeom prst="rect">
            <a:avLst/>
          </a:prstGeom>
        </p:spPr>
      </p:pic>
      <p:sp>
        <p:nvSpPr>
          <p:cNvPr id="21" name="Text 9">
            <a:extLst>
              <a:ext uri="{FF2B5EF4-FFF2-40B4-BE49-F238E27FC236}">
                <a16:creationId xmlns:a16="http://schemas.microsoft.com/office/drawing/2014/main" id="{BBB67D97-C4D5-BA55-0C46-BC5595B7A0B2}"/>
              </a:ext>
            </a:extLst>
          </p:cNvPr>
          <p:cNvSpPr/>
          <p:nvPr/>
        </p:nvSpPr>
        <p:spPr>
          <a:xfrm>
            <a:off x="3876131" y="7268431"/>
            <a:ext cx="1550566" cy="457086"/>
          </a:xfrm>
          <a:prstGeom prst="rect">
            <a:avLst/>
          </a:prstGeom>
          <a:noFill/>
          <a:ln/>
        </p:spPr>
        <p:txBody>
          <a:bodyPr wrap="none" lIns="0" tIns="0" rIns="0" bIns="0" rtlCol="0" anchor="t"/>
          <a:lstStyle/>
          <a:p>
            <a:pPr marL="0" indent="0" algn="l">
              <a:lnSpc>
                <a:spcPts val="1500"/>
              </a:lnSpc>
              <a:buNone/>
            </a:pPr>
            <a:r>
              <a:rPr lang="en-US" sz="3600" dirty="0">
                <a:solidFill>
                  <a:srgbClr val="404155"/>
                </a:solidFill>
                <a:latin typeface="Times New Roman" panose="02020603050405020304" pitchFamily="18" charset="0"/>
                <a:ea typeface="Alexandria" pitchFamily="34" charset="-122"/>
                <a:cs typeface="Times New Roman" panose="02020603050405020304" pitchFamily="18" charset="0"/>
              </a:rPr>
              <a:t>Đặt hàng</a:t>
            </a:r>
            <a:endParaRPr lang="en-US" sz="3600" dirty="0">
              <a:latin typeface="Times New Roman" panose="02020603050405020304" pitchFamily="18" charset="0"/>
              <a:cs typeface="Times New Roman" panose="02020603050405020304" pitchFamily="18" charset="0"/>
            </a:endParaRPr>
          </a:p>
        </p:txBody>
      </p:sp>
      <p:sp>
        <p:nvSpPr>
          <p:cNvPr id="22" name="Text 10">
            <a:extLst>
              <a:ext uri="{FF2B5EF4-FFF2-40B4-BE49-F238E27FC236}">
                <a16:creationId xmlns:a16="http://schemas.microsoft.com/office/drawing/2014/main" id="{7715FCC9-9B93-6FD7-2952-25A4079C13FF}"/>
              </a:ext>
            </a:extLst>
          </p:cNvPr>
          <p:cNvSpPr/>
          <p:nvPr/>
        </p:nvSpPr>
        <p:spPr>
          <a:xfrm>
            <a:off x="3876131" y="7683223"/>
            <a:ext cx="3533254"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Chọn địa chỉ, phương thức thanh toán</a:t>
            </a:r>
            <a:endParaRPr lang="en-US" dirty="0">
              <a:latin typeface="Times New Roman" panose="02020603050405020304" pitchFamily="18" charset="0"/>
              <a:cs typeface="Times New Roman" panose="02020603050405020304" pitchFamily="18" charset="0"/>
            </a:endParaRPr>
          </a:p>
        </p:txBody>
      </p:sp>
      <p:pic>
        <p:nvPicPr>
          <p:cNvPr id="23" name="Image 5" descr="preencoded.png">
            <a:extLst>
              <a:ext uri="{FF2B5EF4-FFF2-40B4-BE49-F238E27FC236}">
                <a16:creationId xmlns:a16="http://schemas.microsoft.com/office/drawing/2014/main" id="{178DD45F-7F44-81D4-D8E0-8FB85AF1069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19062" y="6949328"/>
            <a:ext cx="731158" cy="731158"/>
          </a:xfrm>
          <a:prstGeom prst="rect">
            <a:avLst/>
          </a:prstGeom>
        </p:spPr>
      </p:pic>
      <p:sp>
        <p:nvSpPr>
          <p:cNvPr id="24" name="Text 11">
            <a:extLst>
              <a:ext uri="{FF2B5EF4-FFF2-40B4-BE49-F238E27FC236}">
                <a16:creationId xmlns:a16="http://schemas.microsoft.com/office/drawing/2014/main" id="{2AE63E5A-E879-C35D-D5BC-4BFE56C2444F}"/>
              </a:ext>
            </a:extLst>
          </p:cNvPr>
          <p:cNvSpPr/>
          <p:nvPr/>
        </p:nvSpPr>
        <p:spPr>
          <a:xfrm>
            <a:off x="10975190" y="7305282"/>
            <a:ext cx="1550566" cy="457086"/>
          </a:xfrm>
          <a:prstGeom prst="rect">
            <a:avLst/>
          </a:prstGeom>
          <a:noFill/>
          <a:ln/>
        </p:spPr>
        <p:txBody>
          <a:bodyPr wrap="none" lIns="0" tIns="0" rIns="0" bIns="0" rtlCol="0" anchor="t"/>
          <a:lstStyle/>
          <a:p>
            <a:pPr marL="0" indent="0" algn="l">
              <a:lnSpc>
                <a:spcPts val="1500"/>
              </a:lnSpc>
              <a:buNone/>
            </a:pPr>
            <a:r>
              <a:rPr lang="en-US" sz="3600" dirty="0">
                <a:solidFill>
                  <a:srgbClr val="404155"/>
                </a:solidFill>
                <a:latin typeface="Times New Roman" panose="02020603050405020304" pitchFamily="18" charset="0"/>
                <a:ea typeface="Alexandria" pitchFamily="34" charset="-122"/>
                <a:cs typeface="Times New Roman" panose="02020603050405020304" pitchFamily="18" charset="0"/>
              </a:rPr>
              <a:t>Theo dõi đơn hàng</a:t>
            </a:r>
            <a:endParaRPr lang="en-US" sz="3600" dirty="0">
              <a:latin typeface="Times New Roman" panose="02020603050405020304" pitchFamily="18" charset="0"/>
              <a:cs typeface="Times New Roman" panose="02020603050405020304" pitchFamily="18" charset="0"/>
            </a:endParaRPr>
          </a:p>
        </p:txBody>
      </p:sp>
      <p:sp>
        <p:nvSpPr>
          <p:cNvPr id="25" name="Text 12">
            <a:extLst>
              <a:ext uri="{FF2B5EF4-FFF2-40B4-BE49-F238E27FC236}">
                <a16:creationId xmlns:a16="http://schemas.microsoft.com/office/drawing/2014/main" id="{23451E60-2FE4-D4B3-3930-60A9C960D135}"/>
              </a:ext>
            </a:extLst>
          </p:cNvPr>
          <p:cNvSpPr/>
          <p:nvPr/>
        </p:nvSpPr>
        <p:spPr>
          <a:xfrm>
            <a:off x="10975190" y="7723536"/>
            <a:ext cx="3533329" cy="467964"/>
          </a:xfrm>
          <a:prstGeom prst="rect">
            <a:avLst/>
          </a:prstGeom>
          <a:noFill/>
          <a:ln/>
        </p:spPr>
        <p:txBody>
          <a:bodyPr wrap="none" lIns="0" tIns="0" rIns="0" bIns="0" rtlCol="0" anchor="t"/>
          <a:lstStyle/>
          <a:p>
            <a:pPr marL="0" indent="0" algn="l">
              <a:lnSpc>
                <a:spcPts val="1550"/>
              </a:lnSpc>
              <a:buNone/>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Trạng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thái</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thời</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gian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thực</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trên bản đồ</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5518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1F56F-46DA-2418-84C4-CC3A25E4925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B8AE21F-24C4-CA61-6FC9-64CF32EF729C}"/>
              </a:ext>
            </a:extLst>
          </p:cNvPr>
          <p:cNvSpPr/>
          <p:nvPr/>
        </p:nvSpPr>
        <p:spPr>
          <a:xfrm>
            <a:off x="0" y="2359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5" name="Group 4">
            <a:extLst>
              <a:ext uri="{FF2B5EF4-FFF2-40B4-BE49-F238E27FC236}">
                <a16:creationId xmlns:a16="http://schemas.microsoft.com/office/drawing/2014/main" id="{4A9EF983-C095-D360-F13F-802E69D4D0C9}"/>
              </a:ext>
            </a:extLst>
          </p:cNvPr>
          <p:cNvGrpSpPr/>
          <p:nvPr/>
        </p:nvGrpSpPr>
        <p:grpSpPr>
          <a:xfrm>
            <a:off x="914400" y="1638300"/>
            <a:ext cx="12157434" cy="1196225"/>
            <a:chOff x="8252935" y="2941902"/>
            <a:chExt cx="12157434" cy="1196225"/>
          </a:xfrm>
        </p:grpSpPr>
        <p:sp>
          <p:nvSpPr>
            <p:cNvPr id="6" name="TextBox 7">
              <a:extLst>
                <a:ext uri="{FF2B5EF4-FFF2-40B4-BE49-F238E27FC236}">
                  <a16:creationId xmlns:a16="http://schemas.microsoft.com/office/drawing/2014/main" id="{1DC8A47D-BF5C-35C8-915E-6D8D3A6755F6}"/>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dirty="0" err="1">
                  <a:solidFill>
                    <a:srgbClr val="16458C"/>
                  </a:solidFill>
                  <a:latin typeface="Cambria" panose="02040503050406030204" pitchFamily="18" charset="0"/>
                  <a:ea typeface="Cambria" panose="02040503050406030204" pitchFamily="18" charset="0"/>
                  <a:cs typeface="Cambria"/>
                  <a:sym typeface="Cambria"/>
                </a:rPr>
                <a:t>Phân</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hệ</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nhà</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hàng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9" name="Straight Connector 8">
              <a:extLst>
                <a:ext uri="{FF2B5EF4-FFF2-40B4-BE49-F238E27FC236}">
                  <a16:creationId xmlns:a16="http://schemas.microsoft.com/office/drawing/2014/main" id="{4D4A16CA-EC0D-AB89-4D90-E0A030A203D1}"/>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D08CD5A6-1EB5-FB15-219B-1BF5093DF75D}"/>
              </a:ext>
            </a:extLst>
          </p:cNvPr>
          <p:cNvSpPr txBox="1"/>
          <p:nvPr/>
        </p:nvSpPr>
        <p:spPr>
          <a:xfrm>
            <a:off x="897467" y="3023452"/>
            <a:ext cx="3970868" cy="923330"/>
          </a:xfrm>
          <a:prstGeom prst="rect">
            <a:avLst/>
          </a:prstGeom>
          <a:noFill/>
        </p:spPr>
        <p:txBody>
          <a:bodyPr wrap="square" rtlCol="0">
            <a:spAutoFit/>
          </a:bodyPr>
          <a:lstStyle/>
          <a:p>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Chức</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năng</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chính</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a:p>
            <a:endParaRPr lang="en-VN" dirty="0"/>
          </a:p>
        </p:txBody>
      </p:sp>
      <p:sp>
        <p:nvSpPr>
          <p:cNvPr id="7" name="TextBox 6">
            <a:extLst>
              <a:ext uri="{FF2B5EF4-FFF2-40B4-BE49-F238E27FC236}">
                <a16:creationId xmlns:a16="http://schemas.microsoft.com/office/drawing/2014/main" id="{2C12BA7E-8658-F2A2-233F-318163E0DC3B}"/>
              </a:ext>
            </a:extLst>
          </p:cNvPr>
          <p:cNvSpPr txBox="1"/>
          <p:nvPr/>
        </p:nvSpPr>
        <p:spPr>
          <a:xfrm>
            <a:off x="1469313" y="3683532"/>
            <a:ext cx="8923176" cy="31393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đơn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hàng</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thái</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menu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Thêm</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sửa</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món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tùy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Dashboard</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hôm</a:t>
            </a:r>
            <a:r>
              <a:rPr lang="en-US" sz="2400" dirty="0">
                <a:latin typeface="Times New Roman" panose="02020603050405020304" pitchFamily="18" charset="0"/>
                <a:cs typeface="Times New Roman" panose="02020603050405020304" pitchFamily="18" charset="0"/>
              </a:rPr>
              <a:t> nay,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Báo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cáo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doanh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thu</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đồ</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tháng</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Hồ</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nhà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hàng</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ảnh</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VN" dirty="0"/>
          </a:p>
        </p:txBody>
      </p:sp>
      <p:sp>
        <p:nvSpPr>
          <p:cNvPr id="26" name="TextBox 25">
            <a:extLst>
              <a:ext uri="{FF2B5EF4-FFF2-40B4-BE49-F238E27FC236}">
                <a16:creationId xmlns:a16="http://schemas.microsoft.com/office/drawing/2014/main" id="{B44E0E26-2E51-1EEC-56AF-5A9448B6F69E}"/>
              </a:ext>
            </a:extLst>
          </p:cNvPr>
          <p:cNvSpPr txBox="1"/>
          <p:nvPr/>
        </p:nvSpPr>
        <p:spPr>
          <a:xfrm>
            <a:off x="1046325" y="6768217"/>
            <a:ext cx="4724400" cy="923330"/>
          </a:xfrm>
          <a:prstGeom prst="rect">
            <a:avLst/>
          </a:prstGeom>
          <a:noFill/>
        </p:spPr>
        <p:txBody>
          <a:bodyPr wrap="square" rtlCol="0">
            <a:spAutoFit/>
          </a:bodyPr>
          <a:lstStyle/>
          <a:p>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Luồng</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xử</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lý</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đơn</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600" dirty="0" err="1">
                <a:solidFill>
                  <a:srgbClr val="1B1B27"/>
                </a:solidFill>
                <a:latin typeface="Times New Roman" panose="02020603050405020304" pitchFamily="18" charset="0"/>
                <a:ea typeface="Alexandria" pitchFamily="34" charset="-122"/>
                <a:cs typeface="Times New Roman" panose="02020603050405020304" pitchFamily="18" charset="0"/>
              </a:rPr>
              <a:t>hàng</a:t>
            </a:r>
            <a:r>
              <a:rPr lang="en-US" sz="3600" dirty="0">
                <a:solidFill>
                  <a:srgbClr val="1B1B27"/>
                </a:solidFill>
                <a:latin typeface="Times New Roman" panose="02020603050405020304" pitchFamily="18" charset="0"/>
                <a:ea typeface="Alexandria" pitchFamily="34" charset="-122"/>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a:p>
            <a:endParaRPr lang="en-VN" dirty="0"/>
          </a:p>
        </p:txBody>
      </p:sp>
      <p:sp>
        <p:nvSpPr>
          <p:cNvPr id="27" name="TextBox 26">
            <a:extLst>
              <a:ext uri="{FF2B5EF4-FFF2-40B4-BE49-F238E27FC236}">
                <a16:creationId xmlns:a16="http://schemas.microsoft.com/office/drawing/2014/main" id="{D31E780E-37FC-3201-276A-A240A7F2DC72}"/>
              </a:ext>
            </a:extLst>
          </p:cNvPr>
          <p:cNvSpPr txBox="1"/>
          <p:nvPr/>
        </p:nvSpPr>
        <p:spPr>
          <a:xfrm>
            <a:off x="1503180" y="7595342"/>
            <a:ext cx="9067800" cy="738664"/>
          </a:xfrm>
          <a:prstGeom prst="rect">
            <a:avLst/>
          </a:prstGeom>
          <a:noFill/>
        </p:spPr>
        <p:txBody>
          <a:bodyPr wrap="square" rtlCol="0">
            <a:spAutoFit/>
          </a:bodyPr>
          <a:lstStyle/>
          <a:p>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Đơn</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mới</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Xác</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nhận</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Chờ</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tài</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xế</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nhận</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Đang</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giao</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Hoàn</a:t>
            </a:r>
            <a:r>
              <a:rPr lang="en-US" sz="2400"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sz="2400" dirty="0" err="1">
                <a:solidFill>
                  <a:srgbClr val="404155"/>
                </a:solidFill>
                <a:latin typeface="Times New Roman" panose="02020603050405020304" pitchFamily="18" charset="0"/>
                <a:ea typeface="Nobile" pitchFamily="34" charset="-122"/>
                <a:cs typeface="Times New Roman" panose="02020603050405020304" pitchFamily="18" charset="0"/>
              </a:rPr>
              <a:t>thành</a:t>
            </a:r>
            <a:endParaRPr lang="en-US" sz="2400" dirty="0">
              <a:latin typeface="Times New Roman" panose="02020603050405020304" pitchFamily="18" charset="0"/>
              <a:cs typeface="Times New Roman" panose="02020603050405020304" pitchFamily="18" charset="0"/>
            </a:endParaRPr>
          </a:p>
          <a:p>
            <a:endParaRPr lang="en-VN" dirty="0"/>
          </a:p>
        </p:txBody>
      </p:sp>
      <p:pic>
        <p:nvPicPr>
          <p:cNvPr id="29" name="Picture 28">
            <a:extLst>
              <a:ext uri="{FF2B5EF4-FFF2-40B4-BE49-F238E27FC236}">
                <a16:creationId xmlns:a16="http://schemas.microsoft.com/office/drawing/2014/main" id="{ED3D820C-120E-25F2-551B-D1A138A1CA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637" y="3314700"/>
            <a:ext cx="6883982" cy="4589321"/>
          </a:xfrm>
          <a:prstGeom prst="rect">
            <a:avLst/>
          </a:prstGeom>
        </p:spPr>
      </p:pic>
    </p:spTree>
    <p:extLst>
      <p:ext uri="{BB962C8B-B14F-4D97-AF65-F5344CB8AC3E}">
        <p14:creationId xmlns:p14="http://schemas.microsoft.com/office/powerpoint/2010/main" val="3299777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1F56F-46DA-2418-84C4-CC3A25E4925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B8AE21F-24C4-CA61-6FC9-64CF32EF729C}"/>
              </a:ext>
            </a:extLst>
          </p:cNvPr>
          <p:cNvSpPr/>
          <p:nvPr/>
        </p:nvSpPr>
        <p:spPr>
          <a:xfrm>
            <a:off x="0" y="833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5" name="Group 4">
            <a:extLst>
              <a:ext uri="{FF2B5EF4-FFF2-40B4-BE49-F238E27FC236}">
                <a16:creationId xmlns:a16="http://schemas.microsoft.com/office/drawing/2014/main" id="{4A9EF983-C095-D360-F13F-802E69D4D0C9}"/>
              </a:ext>
            </a:extLst>
          </p:cNvPr>
          <p:cNvGrpSpPr/>
          <p:nvPr/>
        </p:nvGrpSpPr>
        <p:grpSpPr>
          <a:xfrm>
            <a:off x="914400" y="1638300"/>
            <a:ext cx="12157434" cy="1196225"/>
            <a:chOff x="8252935" y="2941902"/>
            <a:chExt cx="12157434" cy="1196225"/>
          </a:xfrm>
        </p:grpSpPr>
        <p:sp>
          <p:nvSpPr>
            <p:cNvPr id="6" name="TextBox 7">
              <a:extLst>
                <a:ext uri="{FF2B5EF4-FFF2-40B4-BE49-F238E27FC236}">
                  <a16:creationId xmlns:a16="http://schemas.microsoft.com/office/drawing/2014/main" id="{1DC8A47D-BF5C-35C8-915E-6D8D3A6755F6}"/>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en-US" sz="4800" dirty="0" err="1">
                  <a:solidFill>
                    <a:srgbClr val="16458C"/>
                  </a:solidFill>
                  <a:latin typeface="Cambria" panose="02040503050406030204" pitchFamily="18" charset="0"/>
                  <a:ea typeface="Cambria" panose="02040503050406030204" pitchFamily="18" charset="0"/>
                  <a:cs typeface="Cambria"/>
                  <a:sym typeface="Cambria"/>
                </a:rPr>
                <a:t>Phân</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hệ</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tài</a:t>
              </a:r>
              <a:r>
                <a:rPr lang="en-US" sz="4800" dirty="0">
                  <a:solidFill>
                    <a:srgbClr val="16458C"/>
                  </a:solidFill>
                  <a:latin typeface="Cambria" panose="02040503050406030204" pitchFamily="18" charset="0"/>
                  <a:ea typeface="Cambria" panose="02040503050406030204" pitchFamily="18" charset="0"/>
                  <a:cs typeface="Cambria"/>
                  <a:sym typeface="Cambria"/>
                </a:rPr>
                <a:t> </a:t>
              </a:r>
              <a:r>
                <a:rPr lang="en-US" sz="4800" dirty="0" err="1">
                  <a:solidFill>
                    <a:srgbClr val="16458C"/>
                  </a:solidFill>
                  <a:latin typeface="Cambria" panose="02040503050406030204" pitchFamily="18" charset="0"/>
                  <a:ea typeface="Cambria" panose="02040503050406030204" pitchFamily="18" charset="0"/>
                  <a:cs typeface="Cambria"/>
                  <a:sym typeface="Cambria"/>
                </a:rPr>
                <a:t>xế</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9" name="Straight Connector 8">
              <a:extLst>
                <a:ext uri="{FF2B5EF4-FFF2-40B4-BE49-F238E27FC236}">
                  <a16:creationId xmlns:a16="http://schemas.microsoft.com/office/drawing/2014/main" id="{4D4A16CA-EC0D-AB89-4D90-E0A030A203D1}"/>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16" name="Image 0" descr="preencoded.png">
            <a:extLst>
              <a:ext uri="{FF2B5EF4-FFF2-40B4-BE49-F238E27FC236}">
                <a16:creationId xmlns:a16="http://schemas.microsoft.com/office/drawing/2014/main" id="{B6A51CA2-4807-4D50-24F5-AAA6D22654BC}"/>
              </a:ext>
            </a:extLst>
          </p:cNvPr>
          <p:cNvPicPr>
            <a:picLocks noChangeAspect="1"/>
          </p:cNvPicPr>
          <p:nvPr/>
        </p:nvPicPr>
        <p:blipFill>
          <a:blip r:embed="rId4"/>
          <a:stretch>
            <a:fillRect/>
          </a:stretch>
        </p:blipFill>
        <p:spPr>
          <a:xfrm>
            <a:off x="1981200" y="3172311"/>
            <a:ext cx="6937583" cy="703718"/>
          </a:xfrm>
          <a:prstGeom prst="rect">
            <a:avLst/>
          </a:prstGeom>
        </p:spPr>
      </p:pic>
      <p:pic>
        <p:nvPicPr>
          <p:cNvPr id="17" name="Image 1" descr="preencoded.png">
            <a:extLst>
              <a:ext uri="{FF2B5EF4-FFF2-40B4-BE49-F238E27FC236}">
                <a16:creationId xmlns:a16="http://schemas.microsoft.com/office/drawing/2014/main" id="{BAA39921-5EC1-0B47-96F5-0D7446216631}"/>
              </a:ext>
            </a:extLst>
          </p:cNvPr>
          <p:cNvPicPr>
            <a:picLocks noChangeAspect="1"/>
          </p:cNvPicPr>
          <p:nvPr/>
        </p:nvPicPr>
        <p:blipFill>
          <a:blip r:embed="rId5"/>
          <a:stretch>
            <a:fillRect/>
          </a:stretch>
        </p:blipFill>
        <p:spPr>
          <a:xfrm>
            <a:off x="8918783" y="3162300"/>
            <a:ext cx="6937583" cy="703718"/>
          </a:xfrm>
          <a:prstGeom prst="rect">
            <a:avLst/>
          </a:prstGeom>
        </p:spPr>
      </p:pic>
      <p:pic>
        <p:nvPicPr>
          <p:cNvPr id="18" name="Image 2" descr="preencoded.png">
            <a:extLst>
              <a:ext uri="{FF2B5EF4-FFF2-40B4-BE49-F238E27FC236}">
                <a16:creationId xmlns:a16="http://schemas.microsoft.com/office/drawing/2014/main" id="{A82221DC-4858-F23D-6C1F-1AC8C83E6E2E}"/>
              </a:ext>
            </a:extLst>
          </p:cNvPr>
          <p:cNvPicPr>
            <a:picLocks noChangeAspect="1"/>
          </p:cNvPicPr>
          <p:nvPr/>
        </p:nvPicPr>
        <p:blipFill>
          <a:blip r:embed="rId6"/>
          <a:stretch>
            <a:fillRect/>
          </a:stretch>
        </p:blipFill>
        <p:spPr>
          <a:xfrm>
            <a:off x="1981199" y="4888416"/>
            <a:ext cx="6937583" cy="703718"/>
          </a:xfrm>
          <a:prstGeom prst="rect">
            <a:avLst/>
          </a:prstGeom>
        </p:spPr>
      </p:pic>
      <p:pic>
        <p:nvPicPr>
          <p:cNvPr id="19" name="Image 3" descr="preencoded.png">
            <a:extLst>
              <a:ext uri="{FF2B5EF4-FFF2-40B4-BE49-F238E27FC236}">
                <a16:creationId xmlns:a16="http://schemas.microsoft.com/office/drawing/2014/main" id="{35F38724-9B59-99F9-CF29-763478F8CF62}"/>
              </a:ext>
            </a:extLst>
          </p:cNvPr>
          <p:cNvPicPr>
            <a:picLocks noChangeAspect="1"/>
          </p:cNvPicPr>
          <p:nvPr/>
        </p:nvPicPr>
        <p:blipFill>
          <a:blip r:embed="rId7"/>
          <a:stretch>
            <a:fillRect/>
          </a:stretch>
        </p:blipFill>
        <p:spPr>
          <a:xfrm>
            <a:off x="8918783" y="4885603"/>
            <a:ext cx="6937583" cy="703718"/>
          </a:xfrm>
          <a:prstGeom prst="rect">
            <a:avLst/>
          </a:prstGeom>
        </p:spPr>
      </p:pic>
      <p:pic>
        <p:nvPicPr>
          <p:cNvPr id="20" name="Image 4" descr="preencoded.png">
            <a:extLst>
              <a:ext uri="{FF2B5EF4-FFF2-40B4-BE49-F238E27FC236}">
                <a16:creationId xmlns:a16="http://schemas.microsoft.com/office/drawing/2014/main" id="{8F02B98D-B201-D513-2F4B-25C23DB38623}"/>
              </a:ext>
            </a:extLst>
          </p:cNvPr>
          <p:cNvPicPr>
            <a:picLocks noChangeAspect="1"/>
          </p:cNvPicPr>
          <p:nvPr/>
        </p:nvPicPr>
        <p:blipFill>
          <a:blip r:embed="rId8"/>
          <a:stretch>
            <a:fillRect/>
          </a:stretch>
        </p:blipFill>
        <p:spPr>
          <a:xfrm>
            <a:off x="1981198" y="6694215"/>
            <a:ext cx="6937583" cy="703718"/>
          </a:xfrm>
          <a:prstGeom prst="rect">
            <a:avLst/>
          </a:prstGeom>
        </p:spPr>
      </p:pic>
      <p:pic>
        <p:nvPicPr>
          <p:cNvPr id="21" name="Image 5" descr="preencoded.png">
            <a:extLst>
              <a:ext uri="{FF2B5EF4-FFF2-40B4-BE49-F238E27FC236}">
                <a16:creationId xmlns:a16="http://schemas.microsoft.com/office/drawing/2014/main" id="{B54B1F8B-DA90-1D73-DB98-014698EFB424}"/>
              </a:ext>
            </a:extLst>
          </p:cNvPr>
          <p:cNvPicPr>
            <a:picLocks noChangeAspect="1"/>
          </p:cNvPicPr>
          <p:nvPr/>
        </p:nvPicPr>
        <p:blipFill>
          <a:blip r:embed="rId9"/>
          <a:stretch>
            <a:fillRect/>
          </a:stretch>
        </p:blipFill>
        <p:spPr>
          <a:xfrm>
            <a:off x="8918783" y="6667500"/>
            <a:ext cx="6937583" cy="703718"/>
          </a:xfrm>
          <a:prstGeom prst="rect">
            <a:avLst/>
          </a:prstGeom>
        </p:spPr>
      </p:pic>
      <p:sp>
        <p:nvSpPr>
          <p:cNvPr id="22" name="TextBox 21">
            <a:extLst>
              <a:ext uri="{FF2B5EF4-FFF2-40B4-BE49-F238E27FC236}">
                <a16:creationId xmlns:a16="http://schemas.microsoft.com/office/drawing/2014/main" id="{8F33A601-60A5-FF95-1767-734AA2427DF9}"/>
              </a:ext>
            </a:extLst>
          </p:cNvPr>
          <p:cNvSpPr txBox="1"/>
          <p:nvPr/>
        </p:nvSpPr>
        <p:spPr>
          <a:xfrm>
            <a:off x="4536229" y="3882426"/>
            <a:ext cx="2510369" cy="523220"/>
          </a:xfrm>
          <a:prstGeom prst="rect">
            <a:avLst/>
          </a:prstGeom>
          <a:noFill/>
        </p:spPr>
        <p:txBody>
          <a:bodyPr wrap="square" rtlCol="0">
            <a:spAutoFit/>
          </a:bodyPr>
          <a:lstStyle/>
          <a:p>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Dashboard</a:t>
            </a:r>
            <a:endParaRPr lang="en-VN" sz="2800" b="1"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D0F41BA-C179-E72D-6B5F-56C003BF3D36}"/>
              </a:ext>
            </a:extLst>
          </p:cNvPr>
          <p:cNvSpPr txBox="1"/>
          <p:nvPr/>
        </p:nvSpPr>
        <p:spPr>
          <a:xfrm>
            <a:off x="4137233" y="4345415"/>
            <a:ext cx="4343400"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Tổng</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hoàn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thành</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thu</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nhập</a:t>
            </a:r>
            <a:endParaRPr lang="en-VN" dirty="0"/>
          </a:p>
        </p:txBody>
      </p:sp>
      <p:sp>
        <p:nvSpPr>
          <p:cNvPr id="24" name="TextBox 23">
            <a:extLst>
              <a:ext uri="{FF2B5EF4-FFF2-40B4-BE49-F238E27FC236}">
                <a16:creationId xmlns:a16="http://schemas.microsoft.com/office/drawing/2014/main" id="{7F1169A6-5FF9-44D7-2C5A-F038B34A6549}"/>
              </a:ext>
            </a:extLst>
          </p:cNvPr>
          <p:cNvSpPr txBox="1"/>
          <p:nvPr/>
        </p:nvSpPr>
        <p:spPr>
          <a:xfrm>
            <a:off x="11500688" y="3825857"/>
            <a:ext cx="2510369" cy="523220"/>
          </a:xfrm>
          <a:prstGeom prst="rect">
            <a:avLst/>
          </a:prstGeom>
          <a:noFill/>
        </p:spPr>
        <p:txBody>
          <a:bodyPr wrap="square" rtlCol="0">
            <a:spAutoFit/>
          </a:bodyPr>
          <a:lstStyle/>
          <a:p>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Nhận</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endParaRPr lang="en-VN" sz="2800" b="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E5F323D4-F577-9332-461E-3608DDA2356B}"/>
              </a:ext>
            </a:extLst>
          </p:cNvPr>
          <p:cNvSpPr txBox="1"/>
          <p:nvPr/>
        </p:nvSpPr>
        <p:spPr>
          <a:xfrm>
            <a:off x="9998707" y="4330647"/>
            <a:ext cx="4777733"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Xem</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mới</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chấp</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nhận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từ</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chối</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endParaRPr lang="en-VN" dirty="0"/>
          </a:p>
        </p:txBody>
      </p:sp>
      <p:sp>
        <p:nvSpPr>
          <p:cNvPr id="28" name="TextBox 27">
            <a:extLst>
              <a:ext uri="{FF2B5EF4-FFF2-40B4-BE49-F238E27FC236}">
                <a16:creationId xmlns:a16="http://schemas.microsoft.com/office/drawing/2014/main" id="{C375B488-548C-63FC-4A79-DA0417EDE3FE}"/>
              </a:ext>
            </a:extLst>
          </p:cNvPr>
          <p:cNvSpPr txBox="1"/>
          <p:nvPr/>
        </p:nvSpPr>
        <p:spPr>
          <a:xfrm>
            <a:off x="3904400" y="5644225"/>
            <a:ext cx="3644051" cy="523220"/>
          </a:xfrm>
          <a:prstGeom prst="rect">
            <a:avLst/>
          </a:prstGeom>
          <a:noFill/>
        </p:spPr>
        <p:txBody>
          <a:bodyPr wrap="square" rtlCol="0">
            <a:spAutoFit/>
          </a:bodyPr>
          <a:lstStyle/>
          <a:p>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Bản</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đồ</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giao</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endParaRPr lang="en-VN" sz="2800" b="1"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64054460-0A4E-FA6E-648B-CB0547691B6B}"/>
              </a:ext>
            </a:extLst>
          </p:cNvPr>
          <p:cNvSpPr txBox="1"/>
          <p:nvPr/>
        </p:nvSpPr>
        <p:spPr>
          <a:xfrm>
            <a:off x="3337558" y="6145768"/>
            <a:ext cx="4777733"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Hiển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thị</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lộ</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trình</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từ</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nhà</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đến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khách</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endParaRPr lang="en-VN" dirty="0"/>
          </a:p>
        </p:txBody>
      </p:sp>
      <p:sp>
        <p:nvSpPr>
          <p:cNvPr id="30" name="TextBox 29">
            <a:extLst>
              <a:ext uri="{FF2B5EF4-FFF2-40B4-BE49-F238E27FC236}">
                <a16:creationId xmlns:a16="http://schemas.microsoft.com/office/drawing/2014/main" id="{08419673-973D-1F87-240C-F9A58D308D94}"/>
              </a:ext>
            </a:extLst>
          </p:cNvPr>
          <p:cNvSpPr txBox="1"/>
          <p:nvPr/>
        </p:nvSpPr>
        <p:spPr>
          <a:xfrm>
            <a:off x="11149322" y="5595632"/>
            <a:ext cx="3644051" cy="523220"/>
          </a:xfrm>
          <a:prstGeom prst="rect">
            <a:avLst/>
          </a:prstGeom>
          <a:noFill/>
        </p:spPr>
        <p:txBody>
          <a:bodyPr wrap="square" rtlCol="0">
            <a:spAutoFit/>
          </a:bodyPr>
          <a:lstStyle/>
          <a:p>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Cập</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nhật</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vị</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trí</a:t>
            </a:r>
            <a:endParaRPr lang="en-VN" sz="2800" b="1"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02D93AD6-E157-4D11-E2C8-EF7813977EBE}"/>
              </a:ext>
            </a:extLst>
          </p:cNvPr>
          <p:cNvSpPr txBox="1"/>
          <p:nvPr/>
        </p:nvSpPr>
        <p:spPr>
          <a:xfrm>
            <a:off x="10647683" y="6145768"/>
            <a:ext cx="4777733"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Vị</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trí</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theo</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thời</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gian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thực</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trên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bản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đồ</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endParaRPr lang="en-VN" dirty="0"/>
          </a:p>
        </p:txBody>
      </p:sp>
      <p:sp>
        <p:nvSpPr>
          <p:cNvPr id="32" name="TextBox 31">
            <a:extLst>
              <a:ext uri="{FF2B5EF4-FFF2-40B4-BE49-F238E27FC236}">
                <a16:creationId xmlns:a16="http://schemas.microsoft.com/office/drawing/2014/main" id="{A0D3936F-F24A-1AB8-5363-1537DB1E9245}"/>
              </a:ext>
            </a:extLst>
          </p:cNvPr>
          <p:cNvSpPr txBox="1"/>
          <p:nvPr/>
        </p:nvSpPr>
        <p:spPr>
          <a:xfrm>
            <a:off x="3969387" y="7429866"/>
            <a:ext cx="3644051" cy="523220"/>
          </a:xfrm>
          <a:prstGeom prst="rect">
            <a:avLst/>
          </a:prstGeom>
          <a:noFill/>
        </p:spPr>
        <p:txBody>
          <a:bodyPr wrap="square" rtlCol="0">
            <a:spAutoFit/>
          </a:bodyPr>
          <a:lstStyle/>
          <a:p>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Lịch</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sử</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endParaRPr lang="en-VN" sz="2800"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EF355510-0A89-60D6-447B-D2C007E4A01A}"/>
              </a:ext>
            </a:extLst>
          </p:cNvPr>
          <p:cNvSpPr txBox="1"/>
          <p:nvPr/>
        </p:nvSpPr>
        <p:spPr>
          <a:xfrm>
            <a:off x="3702900" y="7981973"/>
            <a:ext cx="4777733"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Danh</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sách</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đơn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hàng</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đã</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hoàn</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thành</a:t>
            </a:r>
            <a:endParaRPr lang="en-VN" dirty="0"/>
          </a:p>
        </p:txBody>
      </p:sp>
      <p:sp>
        <p:nvSpPr>
          <p:cNvPr id="34" name="TextBox 33">
            <a:extLst>
              <a:ext uri="{FF2B5EF4-FFF2-40B4-BE49-F238E27FC236}">
                <a16:creationId xmlns:a16="http://schemas.microsoft.com/office/drawing/2014/main" id="{B340776F-1427-63AB-9B19-0BC09E96E185}"/>
              </a:ext>
            </a:extLst>
          </p:cNvPr>
          <p:cNvSpPr txBox="1"/>
          <p:nvPr/>
        </p:nvSpPr>
        <p:spPr>
          <a:xfrm>
            <a:off x="11781365" y="7461311"/>
            <a:ext cx="3644051" cy="523220"/>
          </a:xfrm>
          <a:prstGeom prst="rect">
            <a:avLst/>
          </a:prstGeom>
          <a:noFill/>
        </p:spPr>
        <p:txBody>
          <a:bodyPr wrap="square" rtlCol="0">
            <a:spAutoFit/>
          </a:bodyPr>
          <a:lstStyle/>
          <a:p>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Hồ</a:t>
            </a:r>
            <a:r>
              <a:rPr lang="en-US" sz="2800" b="1"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sz="2800" b="1" dirty="0" err="1">
                <a:solidFill>
                  <a:srgbClr val="404155"/>
                </a:solidFill>
                <a:latin typeface="Times New Roman" panose="02020603050405020304" pitchFamily="18" charset="0"/>
                <a:ea typeface="Alexandria" pitchFamily="34" charset="-122"/>
                <a:cs typeface="Times New Roman" panose="02020603050405020304" pitchFamily="18" charset="0"/>
              </a:rPr>
              <a:t>sơ</a:t>
            </a:r>
            <a:endParaRPr lang="en-VN" sz="2800"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1FA9C9DA-5A9F-6411-0A8B-9920CD360447}"/>
              </a:ext>
            </a:extLst>
          </p:cNvPr>
          <p:cNvSpPr txBox="1"/>
          <p:nvPr/>
        </p:nvSpPr>
        <p:spPr>
          <a:xfrm>
            <a:off x="11518035" y="7981973"/>
            <a:ext cx="4777733" cy="369332"/>
          </a:xfrm>
          <a:prstGeom prst="rect">
            <a:avLst/>
          </a:prstGeom>
          <a:noFill/>
        </p:spPr>
        <p:txBody>
          <a:bodyPr wrap="square" rtlCol="0">
            <a:spAutoFit/>
          </a:bodyPr>
          <a:lstStyle/>
          <a:p>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Thông</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tin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tài</a:t>
            </a:r>
            <a:r>
              <a:rPr lang="en-US" dirty="0">
                <a:solidFill>
                  <a:srgbClr val="404155"/>
                </a:solidFill>
                <a:latin typeface="Times New Roman" panose="02020603050405020304" pitchFamily="18" charset="0"/>
                <a:ea typeface="Alexandria"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Alexandria" pitchFamily="34" charset="-122"/>
                <a:cs typeface="Times New Roman" panose="02020603050405020304" pitchFamily="18" charset="0"/>
              </a:rPr>
              <a:t>xế</a:t>
            </a:r>
            <a:endParaRPr lang="en-VN" dirty="0"/>
          </a:p>
        </p:txBody>
      </p:sp>
      <p:sp>
        <p:nvSpPr>
          <p:cNvPr id="36" name="TextBox 35">
            <a:extLst>
              <a:ext uri="{FF2B5EF4-FFF2-40B4-BE49-F238E27FC236}">
                <a16:creationId xmlns:a16="http://schemas.microsoft.com/office/drawing/2014/main" id="{5937CD73-8CFC-A324-31AB-66E6BCAB8FC0}"/>
              </a:ext>
            </a:extLst>
          </p:cNvPr>
          <p:cNvSpPr txBox="1"/>
          <p:nvPr/>
        </p:nvSpPr>
        <p:spPr>
          <a:xfrm>
            <a:off x="1211424" y="8537126"/>
            <a:ext cx="11590176" cy="1354217"/>
          </a:xfrm>
          <a:prstGeom prst="rect">
            <a:avLst/>
          </a:prstGeom>
          <a:noFill/>
        </p:spPr>
        <p:txBody>
          <a:bodyPr wrap="square" rtlCol="0">
            <a:spAutoFit/>
          </a:bodyPr>
          <a:lstStyle/>
          <a:p>
            <a:r>
              <a:rPr lang="en-US" sz="3200" dirty="0" err="1">
                <a:solidFill>
                  <a:srgbClr val="1B1B27"/>
                </a:solidFill>
                <a:latin typeface="Times New Roman" panose="02020603050405020304" pitchFamily="18" charset="0"/>
                <a:ea typeface="Alexandria" pitchFamily="34" charset="-122"/>
                <a:cs typeface="Times New Roman" panose="02020603050405020304" pitchFamily="18" charset="0"/>
              </a:rPr>
              <a:t>Luồng</a:t>
            </a:r>
            <a:r>
              <a:rPr lang="en-US" sz="32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200" dirty="0" err="1">
                <a:solidFill>
                  <a:srgbClr val="1B1B27"/>
                </a:solidFill>
                <a:latin typeface="Times New Roman" panose="02020603050405020304" pitchFamily="18" charset="0"/>
                <a:ea typeface="Alexandria" pitchFamily="34" charset="-122"/>
                <a:cs typeface="Times New Roman" panose="02020603050405020304" pitchFamily="18" charset="0"/>
              </a:rPr>
              <a:t>giao</a:t>
            </a:r>
            <a:r>
              <a:rPr lang="en-US" sz="3200" dirty="0">
                <a:solidFill>
                  <a:srgbClr val="1B1B27"/>
                </a:solidFill>
                <a:latin typeface="Times New Roman" panose="02020603050405020304" pitchFamily="18" charset="0"/>
                <a:ea typeface="Alexandria" pitchFamily="34" charset="-122"/>
                <a:cs typeface="Times New Roman" panose="02020603050405020304" pitchFamily="18" charset="0"/>
              </a:rPr>
              <a:t> </a:t>
            </a:r>
            <a:r>
              <a:rPr lang="en-US" sz="3200" dirty="0" err="1">
                <a:solidFill>
                  <a:srgbClr val="1B1B27"/>
                </a:solidFill>
                <a:latin typeface="Times New Roman" panose="02020603050405020304" pitchFamily="18" charset="0"/>
                <a:ea typeface="Alexandria" pitchFamily="34" charset="-122"/>
                <a:cs typeface="Times New Roman" panose="02020603050405020304" pitchFamily="18" charset="0"/>
              </a:rPr>
              <a:t>hàng</a:t>
            </a:r>
            <a:r>
              <a:rPr lang="en-US" sz="3200" dirty="0">
                <a:solidFill>
                  <a:srgbClr val="1B1B27"/>
                </a:solidFill>
                <a:latin typeface="Times New Roman" panose="02020603050405020304" pitchFamily="18" charset="0"/>
                <a:ea typeface="Alexandria" pitchFamily="34" charset="-122"/>
                <a:cs typeface="Times New Roman" panose="02020603050405020304" pitchFamily="18" charset="0"/>
              </a:rPr>
              <a:t> :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Nhận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đơn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Đến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nhà</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hàng</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lấy</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hàng</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 Giao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cho</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khách</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Xác</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nhận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hoàn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thành</a:t>
            </a:r>
            <a:endParaRPr lang="en-US"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endParaRPr lang="en-VN" dirty="0"/>
          </a:p>
        </p:txBody>
      </p:sp>
    </p:spTree>
    <p:extLst>
      <p:ext uri="{BB962C8B-B14F-4D97-AF65-F5344CB8AC3E}">
        <p14:creationId xmlns:p14="http://schemas.microsoft.com/office/powerpoint/2010/main" val="260474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97872-4B32-396B-0B41-A0A19BA5A0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7D58D6-D017-E273-A93D-CE37B43BBDD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sp>
        <p:nvSpPr>
          <p:cNvPr id="10" name="TextBox 9">
            <a:extLst>
              <a:ext uri="{FF2B5EF4-FFF2-40B4-BE49-F238E27FC236}">
                <a16:creationId xmlns:a16="http://schemas.microsoft.com/office/drawing/2014/main" id="{70F8394C-820B-EAFC-14A8-6499B38180C0}"/>
              </a:ext>
            </a:extLst>
          </p:cNvPr>
          <p:cNvSpPr txBox="1"/>
          <p:nvPr/>
        </p:nvSpPr>
        <p:spPr>
          <a:xfrm>
            <a:off x="4470187" y="6438900"/>
            <a:ext cx="2971800" cy="914400"/>
          </a:xfrm>
          <a:prstGeom prst="rect">
            <a:avLst/>
          </a:prstGeom>
          <a:noFill/>
        </p:spPr>
        <p:txBody>
          <a:bodyPr wrap="square" rtlCol="0">
            <a:spAutoFit/>
          </a:bodyPr>
          <a:lstStyle/>
          <a:p>
            <a:endParaRPr lang="en-US" dirty="0"/>
          </a:p>
        </p:txBody>
      </p:sp>
      <p:grpSp>
        <p:nvGrpSpPr>
          <p:cNvPr id="9" name="Group 3">
            <a:extLst>
              <a:ext uri="{FF2B5EF4-FFF2-40B4-BE49-F238E27FC236}">
                <a16:creationId xmlns:a16="http://schemas.microsoft.com/office/drawing/2014/main" id="{0D1654AD-1809-ABD9-9268-C3B8E6306E17}"/>
              </a:ext>
            </a:extLst>
          </p:cNvPr>
          <p:cNvGrpSpPr/>
          <p:nvPr/>
        </p:nvGrpSpPr>
        <p:grpSpPr>
          <a:xfrm>
            <a:off x="1127553" y="1902016"/>
            <a:ext cx="853655" cy="972116"/>
            <a:chOff x="0" y="-205478"/>
            <a:chExt cx="1371600" cy="1615178"/>
          </a:xfrm>
        </p:grpSpPr>
        <p:sp>
          <p:nvSpPr>
            <p:cNvPr id="11" name="Freeform 4">
              <a:extLst>
                <a:ext uri="{FF2B5EF4-FFF2-40B4-BE49-F238E27FC236}">
                  <a16:creationId xmlns:a16="http://schemas.microsoft.com/office/drawing/2014/main" id="{31006816-80C5-1D03-8553-07F3F8C33844}"/>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sz="4800"/>
            </a:p>
          </p:txBody>
        </p:sp>
        <p:sp>
          <p:nvSpPr>
            <p:cNvPr id="12" name="TextBox 5">
              <a:extLst>
                <a:ext uri="{FF2B5EF4-FFF2-40B4-BE49-F238E27FC236}">
                  <a16:creationId xmlns:a16="http://schemas.microsoft.com/office/drawing/2014/main" id="{B7EB39C2-D834-3B90-78B0-1713CFAD2727}"/>
                </a:ext>
              </a:extLst>
            </p:cNvPr>
            <p:cNvSpPr txBox="1"/>
            <p:nvPr/>
          </p:nvSpPr>
          <p:spPr>
            <a:xfrm>
              <a:off x="76" y="-205478"/>
              <a:ext cx="1371524" cy="1428709"/>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400" b="1" dirty="0">
                  <a:solidFill>
                    <a:srgbClr val="FFFFFF"/>
                  </a:solidFill>
                  <a:latin typeface="Cambria" panose="02040503050406030204" pitchFamily="18" charset="0"/>
                  <a:ea typeface="Cambria" panose="02040503050406030204" pitchFamily="18" charset="0"/>
                  <a:cs typeface="Cambria Bold"/>
                  <a:sym typeface="Cambria Bold"/>
                </a:rPr>
                <a:t>3</a:t>
              </a:r>
            </a:p>
          </p:txBody>
        </p:sp>
      </p:grpSp>
      <p:sp>
        <p:nvSpPr>
          <p:cNvPr id="13" name="TextBox 6">
            <a:extLst>
              <a:ext uri="{FF2B5EF4-FFF2-40B4-BE49-F238E27FC236}">
                <a16:creationId xmlns:a16="http://schemas.microsoft.com/office/drawing/2014/main" id="{C1C3C2D1-51E9-CB65-51E1-190C27B2A2E0}"/>
              </a:ext>
            </a:extLst>
          </p:cNvPr>
          <p:cNvSpPr txBox="1"/>
          <p:nvPr/>
        </p:nvSpPr>
        <p:spPr>
          <a:xfrm>
            <a:off x="2333243" y="1902016"/>
            <a:ext cx="7438557" cy="984629"/>
          </a:xfrm>
          <a:prstGeom prst="rect">
            <a:avLst/>
          </a:prstGeom>
        </p:spPr>
        <p:txBody>
          <a:bodyPr lIns="0" tIns="0" rIns="0" bIns="0" rtlCol="0" anchor="t">
            <a:spAutoFit/>
          </a:bodyPr>
          <a:lstStyle/>
          <a:p>
            <a:pPr algn="l">
              <a:lnSpc>
                <a:spcPts val="8640"/>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Kết</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quả</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đạt</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được</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pic>
        <p:nvPicPr>
          <p:cNvPr id="27" name="Image 0" descr="preencoded.png">
            <a:extLst>
              <a:ext uri="{FF2B5EF4-FFF2-40B4-BE49-F238E27FC236}">
                <a16:creationId xmlns:a16="http://schemas.microsoft.com/office/drawing/2014/main" id="{CB143E6F-9CDA-6CCC-F0C8-EDE20C8E3A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7486" y="3277754"/>
            <a:ext cx="495226" cy="495226"/>
          </a:xfrm>
          <a:prstGeom prst="rect">
            <a:avLst/>
          </a:prstGeom>
        </p:spPr>
      </p:pic>
      <p:sp>
        <p:nvSpPr>
          <p:cNvPr id="28" name="Text 1">
            <a:extLst>
              <a:ext uri="{FF2B5EF4-FFF2-40B4-BE49-F238E27FC236}">
                <a16:creationId xmlns:a16="http://schemas.microsoft.com/office/drawing/2014/main" id="{09EFF88B-F4E6-AD26-20F2-6D514C675B64}"/>
              </a:ext>
            </a:extLst>
          </p:cNvPr>
          <p:cNvSpPr/>
          <p:nvPr/>
        </p:nvSpPr>
        <p:spPr>
          <a:xfrm>
            <a:off x="1017486" y="4034137"/>
            <a:ext cx="3342355" cy="319358"/>
          </a:xfrm>
          <a:prstGeom prst="rect">
            <a:avLst/>
          </a:prstGeom>
          <a:noFill/>
          <a:ln/>
        </p:spPr>
        <p:txBody>
          <a:bodyPr wrap="none" lIns="0" tIns="0" rIns="0" bIns="0" rtlCol="0" anchor="t"/>
          <a:lstStyle/>
          <a:p>
            <a:pPr marL="0" indent="0" algn="l">
              <a:lnSpc>
                <a:spcPts val="1500"/>
              </a:lnSpc>
              <a:buNone/>
            </a:pPr>
            <a:r>
              <a:rPr lang="en-US" sz="2800" dirty="0">
                <a:solidFill>
                  <a:srgbClr val="404155"/>
                </a:solidFill>
                <a:latin typeface="Times New Roman" panose="02020603050405020304" pitchFamily="18" charset="0"/>
                <a:ea typeface="Alexandria" pitchFamily="34" charset="-122"/>
                <a:cs typeface="Times New Roman" panose="02020603050405020304" pitchFamily="18" charset="0"/>
              </a:rPr>
              <a:t>Về sản phẩm phần mềm</a:t>
            </a:r>
            <a:endParaRPr lang="en-US" sz="2800" dirty="0">
              <a:latin typeface="Times New Roman" panose="02020603050405020304" pitchFamily="18" charset="0"/>
              <a:cs typeface="Times New Roman" panose="02020603050405020304" pitchFamily="18" charset="0"/>
            </a:endParaRPr>
          </a:p>
        </p:txBody>
      </p:sp>
      <p:sp>
        <p:nvSpPr>
          <p:cNvPr id="29" name="Text 2">
            <a:extLst>
              <a:ext uri="{FF2B5EF4-FFF2-40B4-BE49-F238E27FC236}">
                <a16:creationId xmlns:a16="http://schemas.microsoft.com/office/drawing/2014/main" id="{A9DF9F82-B371-C3F9-B755-BEE1A0949FD7}"/>
              </a:ext>
            </a:extLst>
          </p:cNvPr>
          <p:cNvSpPr/>
          <p:nvPr/>
        </p:nvSpPr>
        <p:spPr>
          <a:xfrm>
            <a:off x="1017486" y="4299472"/>
            <a:ext cx="5230914" cy="4091321"/>
          </a:xfrm>
          <a:prstGeom prst="rect">
            <a:avLst/>
          </a:prstGeom>
          <a:noFill/>
          <a:ln/>
        </p:spPr>
        <p:txBody>
          <a:bodyPr wrap="square" lIns="0" tIns="0" rIns="0" bIns="0" rtlCol="0" anchor="t"/>
          <a:lstStyle/>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Ứng dụng di động đa nền tảng (iOS &amp; Android) với 3 phân hệ hoạt động đầy đủ</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Backend RESTful API hoàn chỉnh (Node.js + Express + Prisma + PostgreSQL)</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Cập nhật trạng thái đơn hàng thời gian thực (Supabase Realtime)</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Xác thực đa phương thức: Email/Password, Google Sign-In, OTP</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Theo dõi vị trí tài xế trực tiếp trên bản đồ (Flutter Map)</a:t>
            </a:r>
            <a:endParaRPr lang="en-US" dirty="0">
              <a:latin typeface="Times New Roman" panose="02020603050405020304" pitchFamily="18" charset="0"/>
              <a:cs typeface="Times New Roman" panose="02020603050405020304" pitchFamily="18" charset="0"/>
            </a:endParaRPr>
          </a:p>
        </p:txBody>
      </p:sp>
      <p:pic>
        <p:nvPicPr>
          <p:cNvPr id="30" name="Image 1" descr="preencoded.png">
            <a:extLst>
              <a:ext uri="{FF2B5EF4-FFF2-40B4-BE49-F238E27FC236}">
                <a16:creationId xmlns:a16="http://schemas.microsoft.com/office/drawing/2014/main" id="{CCFF2995-A736-FB17-2336-EE96AA84B42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57150" y="3277754"/>
            <a:ext cx="495226" cy="495226"/>
          </a:xfrm>
          <a:prstGeom prst="rect">
            <a:avLst/>
          </a:prstGeom>
        </p:spPr>
      </p:pic>
      <p:sp>
        <p:nvSpPr>
          <p:cNvPr id="31" name="Text 3">
            <a:extLst>
              <a:ext uri="{FF2B5EF4-FFF2-40B4-BE49-F238E27FC236}">
                <a16:creationId xmlns:a16="http://schemas.microsoft.com/office/drawing/2014/main" id="{5188E05D-80F3-9C46-C91C-923AA622C913}"/>
              </a:ext>
            </a:extLst>
          </p:cNvPr>
          <p:cNvSpPr/>
          <p:nvPr/>
        </p:nvSpPr>
        <p:spPr>
          <a:xfrm>
            <a:off x="6963705" y="4031929"/>
            <a:ext cx="2613943" cy="319357"/>
          </a:xfrm>
          <a:prstGeom prst="rect">
            <a:avLst/>
          </a:prstGeom>
          <a:noFill/>
          <a:ln/>
        </p:spPr>
        <p:txBody>
          <a:bodyPr wrap="none" lIns="0" tIns="0" rIns="0" bIns="0" rtlCol="0" anchor="t"/>
          <a:lstStyle/>
          <a:p>
            <a:pPr marL="0" indent="0" algn="l">
              <a:lnSpc>
                <a:spcPts val="1500"/>
              </a:lnSpc>
              <a:buNone/>
            </a:pPr>
            <a:r>
              <a:rPr lang="en-US" sz="2800" dirty="0">
                <a:solidFill>
                  <a:srgbClr val="404155"/>
                </a:solidFill>
                <a:latin typeface="Times New Roman" panose="02020603050405020304" pitchFamily="18" charset="0"/>
                <a:ea typeface="Alexandria" pitchFamily="34" charset="-122"/>
                <a:cs typeface="Times New Roman" panose="02020603050405020304" pitchFamily="18" charset="0"/>
              </a:rPr>
              <a:t>Về mặt học thuật</a:t>
            </a:r>
            <a:endParaRPr lang="en-US" sz="2800" dirty="0">
              <a:latin typeface="Times New Roman" panose="02020603050405020304" pitchFamily="18" charset="0"/>
              <a:cs typeface="Times New Roman" panose="02020603050405020304" pitchFamily="18" charset="0"/>
            </a:endParaRPr>
          </a:p>
        </p:txBody>
      </p:sp>
      <p:sp>
        <p:nvSpPr>
          <p:cNvPr id="32" name="Text 4">
            <a:extLst>
              <a:ext uri="{FF2B5EF4-FFF2-40B4-BE49-F238E27FC236}">
                <a16:creationId xmlns:a16="http://schemas.microsoft.com/office/drawing/2014/main" id="{88148555-A510-63C4-BBA3-B02114AD483E}"/>
              </a:ext>
            </a:extLst>
          </p:cNvPr>
          <p:cNvSpPr/>
          <p:nvPr/>
        </p:nvSpPr>
        <p:spPr>
          <a:xfrm>
            <a:off x="6963705" y="4312523"/>
            <a:ext cx="4847295" cy="2311813"/>
          </a:xfrm>
          <a:prstGeom prst="rect">
            <a:avLst/>
          </a:prstGeom>
          <a:noFill/>
          <a:ln/>
        </p:spPr>
        <p:txBody>
          <a:bodyPr wrap="square" lIns="0" tIns="0" rIns="0" bIns="0" rtlCol="0" anchor="t"/>
          <a:lstStyle/>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Hệ thống hóa kiến thức phát triển ứng dụng mobile cross-platform</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Vận dụng phân tích thiết kế hướng đối tượng (OOAD)</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Áp dụng kiến trúc Client-Server 3 tầng</a:t>
            </a:r>
            <a:endParaRPr lang="en-US" dirty="0">
              <a:latin typeface="Times New Roman" panose="02020603050405020304" pitchFamily="18" charset="0"/>
              <a:cs typeface="Times New Roman" panose="02020603050405020304" pitchFamily="18" charset="0"/>
            </a:endParaRPr>
          </a:p>
          <a:p>
            <a:pPr algn="just">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Áp dụng mô hình phát triển lặp và tăng dần</a:t>
            </a:r>
            <a:endParaRPr lang="en-US" dirty="0">
              <a:latin typeface="Times New Roman" panose="02020603050405020304" pitchFamily="18" charset="0"/>
              <a:cs typeface="Times New Roman" panose="02020603050405020304" pitchFamily="18" charset="0"/>
            </a:endParaRPr>
          </a:p>
        </p:txBody>
      </p:sp>
      <p:pic>
        <p:nvPicPr>
          <p:cNvPr id="33" name="Image 2" descr="preencoded.png">
            <a:extLst>
              <a:ext uri="{FF2B5EF4-FFF2-40B4-BE49-F238E27FC236}">
                <a16:creationId xmlns:a16="http://schemas.microsoft.com/office/drawing/2014/main" id="{BE403B46-8AE0-4EF2-39A6-7903649995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458774" y="3277754"/>
            <a:ext cx="495226" cy="495226"/>
          </a:xfrm>
          <a:prstGeom prst="rect">
            <a:avLst/>
          </a:prstGeom>
        </p:spPr>
      </p:pic>
      <p:sp>
        <p:nvSpPr>
          <p:cNvPr id="34" name="Text 5">
            <a:extLst>
              <a:ext uri="{FF2B5EF4-FFF2-40B4-BE49-F238E27FC236}">
                <a16:creationId xmlns:a16="http://schemas.microsoft.com/office/drawing/2014/main" id="{B0C396D9-5897-3710-B7E3-774195F4A035}"/>
              </a:ext>
            </a:extLst>
          </p:cNvPr>
          <p:cNvSpPr/>
          <p:nvPr/>
        </p:nvSpPr>
        <p:spPr>
          <a:xfrm>
            <a:off x="12424907" y="4062600"/>
            <a:ext cx="1550566" cy="258013"/>
          </a:xfrm>
          <a:prstGeom prst="rect">
            <a:avLst/>
          </a:prstGeom>
          <a:noFill/>
          <a:ln/>
        </p:spPr>
        <p:txBody>
          <a:bodyPr wrap="none" lIns="0" tIns="0" rIns="0" bIns="0" rtlCol="0" anchor="t"/>
          <a:lstStyle/>
          <a:p>
            <a:pPr marL="0" indent="0" algn="l">
              <a:lnSpc>
                <a:spcPts val="1500"/>
              </a:lnSpc>
              <a:buNone/>
            </a:pPr>
            <a:r>
              <a:rPr lang="en-US" sz="2800" dirty="0">
                <a:solidFill>
                  <a:srgbClr val="404155"/>
                </a:solidFill>
                <a:latin typeface="Times New Roman" panose="02020603050405020304" pitchFamily="18" charset="0"/>
                <a:ea typeface="Alexandria" pitchFamily="34" charset="-122"/>
                <a:cs typeface="Times New Roman" panose="02020603050405020304" pitchFamily="18" charset="0"/>
              </a:rPr>
              <a:t>Hạn chế còn tồn tại</a:t>
            </a:r>
            <a:endParaRPr lang="en-US" sz="2800" dirty="0">
              <a:latin typeface="Times New Roman" panose="02020603050405020304" pitchFamily="18" charset="0"/>
              <a:cs typeface="Times New Roman" panose="02020603050405020304" pitchFamily="18" charset="0"/>
            </a:endParaRPr>
          </a:p>
        </p:txBody>
      </p:sp>
      <p:sp>
        <p:nvSpPr>
          <p:cNvPr id="35" name="Text 6">
            <a:extLst>
              <a:ext uri="{FF2B5EF4-FFF2-40B4-BE49-F238E27FC236}">
                <a16:creationId xmlns:a16="http://schemas.microsoft.com/office/drawing/2014/main" id="{43101A5F-93AD-BB52-9848-D91291191E38}"/>
              </a:ext>
            </a:extLst>
          </p:cNvPr>
          <p:cNvSpPr/>
          <p:nvPr/>
        </p:nvSpPr>
        <p:spPr>
          <a:xfrm>
            <a:off x="12386881" y="4380919"/>
            <a:ext cx="5291519" cy="1829381"/>
          </a:xfrm>
          <a:prstGeom prst="rect">
            <a:avLst/>
          </a:prstGeom>
          <a:noFill/>
          <a:ln/>
        </p:spPr>
        <p:txBody>
          <a:bodyPr wrap="square" lIns="0" tIns="0" rIns="0" bIns="0" rtlCol="0" anchor="t"/>
          <a:lstStyle/>
          <a:p>
            <a:pPr algn="l">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Chưa tích hợp cổng thanh toán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trực</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tuyến</a:t>
            </a:r>
            <a:endParaRPr lang="en-US" dirty="0">
              <a:latin typeface="Times New Roman" panose="02020603050405020304" pitchFamily="18" charset="0"/>
              <a:cs typeface="Times New Roman" panose="02020603050405020304" pitchFamily="18" charset="0"/>
            </a:endParaRPr>
          </a:p>
          <a:p>
            <a:pPr algn="l">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Chưa có tính năng chat giữa khách hàng – tài xế</a:t>
            </a:r>
            <a:endParaRPr lang="en-US" dirty="0">
              <a:latin typeface="Times New Roman" panose="02020603050405020304" pitchFamily="18" charset="0"/>
              <a:cs typeface="Times New Roman" panose="02020603050405020304" pitchFamily="18" charset="0"/>
            </a:endParaRPr>
          </a:p>
          <a:p>
            <a:pPr algn="l">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Chưa triển khai push notification</a:t>
            </a:r>
            <a:endParaRPr lang="en-US" dirty="0">
              <a:latin typeface="Times New Roman" panose="02020603050405020304" pitchFamily="18" charset="0"/>
              <a:cs typeface="Times New Roman" panose="02020603050405020304" pitchFamily="18" charset="0"/>
            </a:endParaRPr>
          </a:p>
          <a:p>
            <a:pPr algn="l">
              <a:lnSpc>
                <a:spcPct val="150000"/>
              </a:lnSpc>
              <a:buSzPct val="100000"/>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Chưa hỗ trợ đa ngôn </a:t>
            </a:r>
            <a:r>
              <a:rPr lang="en-US" dirty="0" err="1">
                <a:solidFill>
                  <a:srgbClr val="404155"/>
                </a:solidFill>
                <a:latin typeface="Times New Roman" panose="02020603050405020304" pitchFamily="18" charset="0"/>
                <a:ea typeface="Nobile" pitchFamily="34" charset="-122"/>
                <a:cs typeface="Times New Roman" panose="02020603050405020304" pitchFamily="18" charset="0"/>
              </a:rPr>
              <a:t>ngữ</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57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8865"/>
            <a:ext cx="18288000" cy="1031472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a:ln>
            <a:solidFill>
              <a:srgbClr val="002060"/>
            </a:solidFill>
          </a:ln>
        </p:spPr>
        <p:txBody>
          <a:bodyPr/>
          <a:lstStyle/>
          <a:p>
            <a:endParaRPr lang="vi-VN" sz="2800" b="1" dirty="0">
              <a:solidFill>
                <a:schemeClr val="accent6">
                  <a:lumMod val="75000"/>
                </a:schemeClr>
              </a:solidFill>
            </a:endParaRPr>
          </a:p>
        </p:txBody>
      </p:sp>
      <p:sp>
        <p:nvSpPr>
          <p:cNvPr id="8" name="TextBox 7">
            <a:extLst>
              <a:ext uri="{FF2B5EF4-FFF2-40B4-BE49-F238E27FC236}">
                <a16:creationId xmlns:a16="http://schemas.microsoft.com/office/drawing/2014/main" id="{F1F52E1F-5F71-DF59-F565-B846A8A8F86A}"/>
              </a:ext>
            </a:extLst>
          </p:cNvPr>
          <p:cNvSpPr txBox="1"/>
          <p:nvPr/>
        </p:nvSpPr>
        <p:spPr>
          <a:xfrm>
            <a:off x="2184630" y="1575357"/>
            <a:ext cx="9754751" cy="1196225"/>
          </a:xfrm>
          <a:prstGeom prst="rect">
            <a:avLst/>
          </a:prstGeom>
        </p:spPr>
        <p:txBody>
          <a:bodyPr wrap="square" lIns="0" tIns="0" rIns="0" bIns="0" rtlCol="0" anchor="t">
            <a:spAutoFit/>
          </a:bodyPr>
          <a:lstStyle/>
          <a:p>
            <a:pPr algn="l">
              <a:lnSpc>
                <a:spcPts val="10800"/>
              </a:lnSpc>
            </a:pPr>
            <a:r>
              <a:rPr lang="en-US" sz="5400" b="1" dirty="0" err="1">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Hướng</a:t>
            </a:r>
            <a:r>
              <a:rPr lang="en-US" sz="5400" b="1" dirty="0">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 </a:t>
            </a:r>
            <a:r>
              <a:rPr lang="en-US" sz="5400" b="1" dirty="0" err="1">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phát</a:t>
            </a:r>
            <a:r>
              <a:rPr lang="en-US" sz="5400" b="1" dirty="0">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 </a:t>
            </a:r>
            <a:r>
              <a:rPr lang="en-US" sz="5400" b="1" dirty="0" err="1">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triển</a:t>
            </a:r>
            <a:r>
              <a:rPr lang="en-US" sz="5400" b="1" dirty="0">
                <a:solidFill>
                  <a:srgbClr val="16458C"/>
                </a:solidFill>
                <a:latin typeface="Times New Roman" panose="02020603050405020304" pitchFamily="18" charset="0"/>
                <a:ea typeface="Cambria" panose="02040503050406030204" pitchFamily="18" charset="0"/>
                <a:cs typeface="Times New Roman" panose="02020603050405020304" pitchFamily="18" charset="0"/>
                <a:sym typeface="Cambria"/>
              </a:rPr>
              <a:t> </a:t>
            </a:r>
          </a:p>
        </p:txBody>
      </p:sp>
      <p:sp>
        <p:nvSpPr>
          <p:cNvPr id="10" name="Google Shape;908;p74">
            <a:extLst>
              <a:ext uri="{FF2B5EF4-FFF2-40B4-BE49-F238E27FC236}">
                <a16:creationId xmlns:a16="http://schemas.microsoft.com/office/drawing/2014/main" id="{BAB55234-4327-0C8D-B238-4F5BD07E4991}"/>
              </a:ext>
            </a:extLst>
          </p:cNvPr>
          <p:cNvSpPr txBox="1"/>
          <p:nvPr/>
        </p:nvSpPr>
        <p:spPr>
          <a:xfrm>
            <a:off x="1932449" y="3720587"/>
            <a:ext cx="1412100" cy="484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800" b="1" dirty="0">
              <a:solidFill>
                <a:schemeClr val="accent6">
                  <a:lumMod val="75000"/>
                </a:schemeClr>
              </a:solidFill>
              <a:latin typeface="Cambria" panose="02040503050406030204" pitchFamily="18" charset="0"/>
              <a:ea typeface="Cambria" panose="02040503050406030204" pitchFamily="18" charset="0"/>
              <a:cs typeface="Abril Fatface" panose="02000503000000020003"/>
              <a:sym typeface="Abril Fatface" panose="02000503000000020003"/>
            </a:endParaRPr>
          </a:p>
        </p:txBody>
      </p:sp>
      <p:sp>
        <p:nvSpPr>
          <p:cNvPr id="11" name="Google Shape;909;p74">
            <a:extLst>
              <a:ext uri="{FF2B5EF4-FFF2-40B4-BE49-F238E27FC236}">
                <a16:creationId xmlns:a16="http://schemas.microsoft.com/office/drawing/2014/main" id="{81547030-8015-5D15-8227-3BC9C7A7CD96}"/>
              </a:ext>
            </a:extLst>
          </p:cNvPr>
          <p:cNvSpPr txBox="1"/>
          <p:nvPr/>
        </p:nvSpPr>
        <p:spPr>
          <a:xfrm>
            <a:off x="1410473" y="6049239"/>
            <a:ext cx="3953394" cy="2716845"/>
          </a:xfrm>
          <a:prstGeom prst="rect">
            <a:avLst/>
          </a:prstGeom>
          <a:noFill/>
          <a:ln>
            <a:noFill/>
          </a:ln>
        </p:spPr>
        <p:txBody>
          <a:bodyPr spcFirstLastPara="1" wrap="square" lIns="0" tIns="0" rIns="0" bIns="0" anchor="ctr" anchorCtr="0">
            <a:noAutofit/>
          </a:bodyPr>
          <a:lstStyle/>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Thanh </a:t>
            </a:r>
            <a:r>
              <a:rPr lang="en-US" sz="2400" dirty="0" err="1">
                <a:solidFill>
                  <a:srgbClr val="404155"/>
                </a:solidFill>
                <a:latin typeface="Cambria" panose="02040503050406030204" pitchFamily="18" charset="0"/>
                <a:ea typeface="Cambria" panose="02040503050406030204" pitchFamily="18" charset="0"/>
                <a:cs typeface="Nobile" pitchFamily="34" charset="-120"/>
              </a:rPr>
              <a:t>toán</a:t>
            </a:r>
            <a:r>
              <a:rPr lang="en-US" sz="2400" dirty="0">
                <a:solidFill>
                  <a:srgbClr val="404155"/>
                </a:solidFill>
                <a:latin typeface="Cambria" panose="02040503050406030204" pitchFamily="18" charset="0"/>
                <a:ea typeface="Cambria" panose="02040503050406030204" pitchFamily="18" charset="0"/>
                <a:cs typeface="Nobile" pitchFamily="34" charset="-120"/>
              </a:rPr>
              <a:t> online (</a:t>
            </a:r>
            <a:r>
              <a:rPr lang="en-US" sz="2400" dirty="0" err="1">
                <a:solidFill>
                  <a:srgbClr val="404155"/>
                </a:solidFill>
                <a:latin typeface="Cambria" panose="02040503050406030204" pitchFamily="18" charset="0"/>
                <a:ea typeface="Cambria" panose="02040503050406030204" pitchFamily="18" charset="0"/>
                <a:cs typeface="Nobile" pitchFamily="34" charset="-120"/>
              </a:rPr>
              <a:t>VNPay</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MoMo</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ZaloPay</a:t>
            </a:r>
            <a:r>
              <a:rPr lang="en-US" sz="2400" dirty="0">
                <a:solidFill>
                  <a:srgbClr val="404155"/>
                </a:solidFill>
                <a:latin typeface="Cambria" panose="02040503050406030204" pitchFamily="18" charset="0"/>
                <a:ea typeface="Cambria" panose="02040503050406030204" pitchFamily="18" charset="0"/>
                <a:cs typeface="Nobile" pitchFamily="34" charset="-120"/>
              </a:rPr>
              <a:t>)</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Chat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realtime</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Push Notification</a:t>
            </a:r>
            <a:endParaRPr lang="en-US" sz="2400" dirty="0">
              <a:latin typeface="Cambria" panose="02040503050406030204" pitchFamily="18" charset="0"/>
              <a:ea typeface="Cambria" panose="02040503050406030204" pitchFamily="18" charset="0"/>
            </a:endParaRPr>
          </a:p>
        </p:txBody>
      </p:sp>
      <p:sp>
        <p:nvSpPr>
          <p:cNvPr id="12" name="Google Shape;910;p74">
            <a:extLst>
              <a:ext uri="{FF2B5EF4-FFF2-40B4-BE49-F238E27FC236}">
                <a16:creationId xmlns:a16="http://schemas.microsoft.com/office/drawing/2014/main" id="{79B0A1B4-F97B-ADBC-5345-C3E164531927}"/>
              </a:ext>
            </a:extLst>
          </p:cNvPr>
          <p:cNvSpPr/>
          <p:nvPr/>
        </p:nvSpPr>
        <p:spPr>
          <a:xfrm>
            <a:off x="2424279" y="5791903"/>
            <a:ext cx="428440" cy="419534"/>
          </a:xfrm>
          <a:prstGeom prst="ellipse">
            <a:avLst/>
          </a:prstGeom>
          <a:solidFill>
            <a:srgbClr val="92D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dirty="0">
              <a:solidFill>
                <a:schemeClr val="tx2">
                  <a:lumMod val="75000"/>
                </a:schemeClr>
              </a:solidFill>
              <a:highlight>
                <a:srgbClr val="FF0000"/>
              </a:highlight>
              <a:latin typeface="Cambria" panose="02040503050406030204" pitchFamily="18" charset="0"/>
              <a:ea typeface="Cambria" panose="02040503050406030204" pitchFamily="18" charset="0"/>
            </a:endParaRPr>
          </a:p>
        </p:txBody>
      </p:sp>
      <p:sp>
        <p:nvSpPr>
          <p:cNvPr id="17" name="Google Shape;915;p74">
            <a:extLst>
              <a:ext uri="{FF2B5EF4-FFF2-40B4-BE49-F238E27FC236}">
                <a16:creationId xmlns:a16="http://schemas.microsoft.com/office/drawing/2014/main" id="{8EEAC890-8F96-014A-2A5B-5A41337A603E}"/>
              </a:ext>
            </a:extLst>
          </p:cNvPr>
          <p:cNvSpPr txBox="1"/>
          <p:nvPr/>
        </p:nvSpPr>
        <p:spPr>
          <a:xfrm>
            <a:off x="9361419" y="7407661"/>
            <a:ext cx="2464514" cy="920787"/>
          </a:xfrm>
          <a:prstGeom prst="rect">
            <a:avLst/>
          </a:prstGeom>
          <a:noFill/>
          <a:ln>
            <a:noFill/>
          </a:ln>
        </p:spPr>
        <p:txBody>
          <a:bodyPr spcFirstLastPara="1" wrap="square" lIns="0" tIns="0" rIns="0" bIns="0" anchor="ctr" anchorCtr="0">
            <a:noAutofit/>
          </a:bodyPr>
          <a:lstStyle/>
          <a:p>
            <a:pPr algn="ctr"/>
            <a:r>
              <a:rPr lang="en-US" sz="2800" b="1" dirty="0">
                <a:solidFill>
                  <a:schemeClr val="tx2">
                    <a:lumMod val="75000"/>
                  </a:schemeClr>
                </a:solidFill>
                <a:latin typeface="Cambria" panose="02040503050406030204" pitchFamily="18" charset="0"/>
                <a:ea typeface="Cambria" panose="02040503050406030204" pitchFamily="18" charset="0"/>
                <a:cs typeface="Calibri" pitchFamily="34" charset="-120"/>
              </a:rPr>
              <a:t>Trung </a:t>
            </a:r>
            <a:r>
              <a:rPr lang="en-US" sz="2800" b="1" dirty="0" err="1">
                <a:solidFill>
                  <a:schemeClr val="tx2">
                    <a:lumMod val="75000"/>
                  </a:schemeClr>
                </a:solidFill>
                <a:latin typeface="Cambria" panose="02040503050406030204" pitchFamily="18" charset="0"/>
                <a:ea typeface="Cambria" panose="02040503050406030204" pitchFamily="18" charset="0"/>
                <a:cs typeface="Calibri" pitchFamily="34" charset="-120"/>
              </a:rPr>
              <a:t>hạn</a:t>
            </a:r>
            <a:endParaRPr lang="en-US" sz="2800" b="1" dirty="0">
              <a:solidFill>
                <a:schemeClr val="tx2">
                  <a:lumMod val="75000"/>
                </a:schemeClr>
              </a:solidFill>
              <a:latin typeface="Cambria" panose="02040503050406030204" pitchFamily="18" charset="0"/>
              <a:ea typeface="Cambria" panose="02040503050406030204" pitchFamily="18" charset="0"/>
            </a:endParaRPr>
          </a:p>
        </p:txBody>
      </p:sp>
      <p:cxnSp>
        <p:nvCxnSpPr>
          <p:cNvPr id="27" name="Google Shape;926;p74">
            <a:extLst>
              <a:ext uri="{FF2B5EF4-FFF2-40B4-BE49-F238E27FC236}">
                <a16:creationId xmlns:a16="http://schemas.microsoft.com/office/drawing/2014/main" id="{EE75627E-5360-C787-15C6-631DCABFC8A4}"/>
              </a:ext>
            </a:extLst>
          </p:cNvPr>
          <p:cNvCxnSpPr>
            <a:cxnSpLocks/>
          </p:cNvCxnSpPr>
          <p:nvPr/>
        </p:nvCxnSpPr>
        <p:spPr>
          <a:xfrm flipH="1">
            <a:off x="2849459" y="6001670"/>
            <a:ext cx="2170558" cy="0"/>
          </a:xfrm>
          <a:prstGeom prst="straightConnector1">
            <a:avLst/>
          </a:prstGeom>
          <a:noFill/>
          <a:ln w="28575" cap="flat" cmpd="sng">
            <a:solidFill>
              <a:srgbClr val="002060"/>
            </a:solidFill>
            <a:prstDash val="solid"/>
            <a:round/>
            <a:headEnd type="none" w="med" len="med"/>
            <a:tailEnd type="none" w="med" len="med"/>
          </a:ln>
        </p:spPr>
      </p:cxnSp>
      <p:cxnSp>
        <p:nvCxnSpPr>
          <p:cNvPr id="28" name="Google Shape;927;p74">
            <a:extLst>
              <a:ext uri="{FF2B5EF4-FFF2-40B4-BE49-F238E27FC236}">
                <a16:creationId xmlns:a16="http://schemas.microsoft.com/office/drawing/2014/main" id="{4E46D224-14F2-7B7F-A5F2-E527C8408677}"/>
              </a:ext>
            </a:extLst>
          </p:cNvPr>
          <p:cNvCxnSpPr>
            <a:cxnSpLocks/>
          </p:cNvCxnSpPr>
          <p:nvPr/>
        </p:nvCxnSpPr>
        <p:spPr>
          <a:xfrm flipV="1">
            <a:off x="2635239" y="4595678"/>
            <a:ext cx="0" cy="1196225"/>
          </a:xfrm>
          <a:prstGeom prst="straightConnector1">
            <a:avLst/>
          </a:prstGeom>
          <a:noFill/>
          <a:ln w="28575" cap="flat" cmpd="sng">
            <a:solidFill>
              <a:srgbClr val="002060"/>
            </a:solidFill>
            <a:prstDash val="solid"/>
            <a:round/>
            <a:headEnd type="none" w="med" len="med"/>
            <a:tailEnd type="oval" w="med" len="med"/>
          </a:ln>
        </p:spPr>
      </p:cxnSp>
      <p:sp>
        <p:nvSpPr>
          <p:cNvPr id="33" name="Google Shape;914;p74">
            <a:extLst>
              <a:ext uri="{FF2B5EF4-FFF2-40B4-BE49-F238E27FC236}">
                <a16:creationId xmlns:a16="http://schemas.microsoft.com/office/drawing/2014/main" id="{D13194B2-4E0D-09CA-1F80-73C5892C02E8}"/>
              </a:ext>
            </a:extLst>
          </p:cNvPr>
          <p:cNvSpPr txBox="1"/>
          <p:nvPr/>
        </p:nvSpPr>
        <p:spPr>
          <a:xfrm>
            <a:off x="14753362" y="3302214"/>
            <a:ext cx="3023475" cy="1153982"/>
          </a:xfrm>
          <a:prstGeom prst="rect">
            <a:avLst/>
          </a:prstGeom>
          <a:noFill/>
          <a:ln>
            <a:noFill/>
          </a:ln>
        </p:spPr>
        <p:txBody>
          <a:bodyPr spcFirstLastPara="1" wrap="square" lIns="0" tIns="0" rIns="0" bIns="0" anchor="ctr" anchorCtr="0">
            <a:noAutofit/>
          </a:bodyPr>
          <a:lstStyle/>
          <a:p>
            <a:pPr algn="ctr"/>
            <a:r>
              <a:rPr lang="en-US" sz="2800" b="1" dirty="0" err="1">
                <a:solidFill>
                  <a:schemeClr val="tx2">
                    <a:lumMod val="75000"/>
                  </a:schemeClr>
                </a:solidFill>
                <a:latin typeface="Cambria" panose="02040503050406030204" pitchFamily="18" charset="0"/>
                <a:ea typeface="Cambria" panose="02040503050406030204" pitchFamily="18" charset="0"/>
                <a:cs typeface="Calibri" pitchFamily="34" charset="-120"/>
              </a:rPr>
              <a:t>Dài</a:t>
            </a:r>
            <a:r>
              <a:rPr lang="en-US" sz="2800" b="1" dirty="0">
                <a:solidFill>
                  <a:schemeClr val="tx2">
                    <a:lumMod val="75000"/>
                  </a:schemeClr>
                </a:solidFill>
                <a:latin typeface="Cambria" panose="02040503050406030204" pitchFamily="18" charset="0"/>
                <a:ea typeface="Cambria" panose="02040503050406030204" pitchFamily="18" charset="0"/>
                <a:cs typeface="Calibri" pitchFamily="34" charset="-120"/>
              </a:rPr>
              <a:t> </a:t>
            </a:r>
            <a:r>
              <a:rPr lang="en-US" sz="2800" b="1" dirty="0" err="1">
                <a:solidFill>
                  <a:schemeClr val="tx2">
                    <a:lumMod val="75000"/>
                  </a:schemeClr>
                </a:solidFill>
                <a:latin typeface="Cambria" panose="02040503050406030204" pitchFamily="18" charset="0"/>
                <a:ea typeface="Cambria" panose="02040503050406030204" pitchFamily="18" charset="0"/>
                <a:cs typeface="Calibri" pitchFamily="34" charset="-120"/>
              </a:rPr>
              <a:t>hạn</a:t>
            </a:r>
            <a:endParaRPr lang="en-US" sz="2800" b="1" dirty="0">
              <a:solidFill>
                <a:schemeClr val="tx2">
                  <a:lumMod val="75000"/>
                </a:schemeClr>
              </a:solidFill>
              <a:latin typeface="Cambria" panose="02040503050406030204" pitchFamily="18" charset="0"/>
              <a:ea typeface="Cambria" panose="02040503050406030204" pitchFamily="18" charset="0"/>
            </a:endParaRPr>
          </a:p>
        </p:txBody>
      </p:sp>
      <p:cxnSp>
        <p:nvCxnSpPr>
          <p:cNvPr id="93" name="Google Shape;926;p74">
            <a:extLst>
              <a:ext uri="{FF2B5EF4-FFF2-40B4-BE49-F238E27FC236}">
                <a16:creationId xmlns:a16="http://schemas.microsoft.com/office/drawing/2014/main" id="{21B13AB3-D9BF-7477-36DF-9CBCB1E97ADF}"/>
              </a:ext>
            </a:extLst>
          </p:cNvPr>
          <p:cNvCxnSpPr>
            <a:cxnSpLocks/>
          </p:cNvCxnSpPr>
          <p:nvPr/>
        </p:nvCxnSpPr>
        <p:spPr>
          <a:xfrm flipH="1">
            <a:off x="5019132" y="6001556"/>
            <a:ext cx="3849357" cy="0"/>
          </a:xfrm>
          <a:prstGeom prst="straightConnector1">
            <a:avLst/>
          </a:prstGeom>
          <a:noFill/>
          <a:ln w="28575" cap="flat" cmpd="sng">
            <a:solidFill>
              <a:srgbClr val="002060"/>
            </a:solidFill>
            <a:prstDash val="solid"/>
            <a:round/>
            <a:headEnd type="none" w="med" len="med"/>
            <a:tailEnd type="none" w="med" len="med"/>
          </a:ln>
        </p:spPr>
      </p:cxnSp>
      <p:sp>
        <p:nvSpPr>
          <p:cNvPr id="94" name="Google Shape;910;p74">
            <a:extLst>
              <a:ext uri="{FF2B5EF4-FFF2-40B4-BE49-F238E27FC236}">
                <a16:creationId xmlns:a16="http://schemas.microsoft.com/office/drawing/2014/main" id="{BEF8E92E-E30B-C377-7EE0-6B9CA89B4D46}"/>
              </a:ext>
            </a:extLst>
          </p:cNvPr>
          <p:cNvSpPr/>
          <p:nvPr/>
        </p:nvSpPr>
        <p:spPr>
          <a:xfrm>
            <a:off x="8868489" y="5791789"/>
            <a:ext cx="428440" cy="419534"/>
          </a:xfrm>
          <a:prstGeom prst="ellipse">
            <a:avLst/>
          </a:prstGeom>
          <a:solidFill>
            <a:srgbClr val="92D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dirty="0">
              <a:solidFill>
                <a:schemeClr val="tx2">
                  <a:lumMod val="75000"/>
                </a:schemeClr>
              </a:solidFill>
              <a:highlight>
                <a:srgbClr val="FF0000"/>
              </a:highlight>
              <a:latin typeface="Cambria" panose="02040503050406030204" pitchFamily="18" charset="0"/>
              <a:ea typeface="Cambria" panose="02040503050406030204" pitchFamily="18" charset="0"/>
            </a:endParaRPr>
          </a:p>
        </p:txBody>
      </p:sp>
      <p:cxnSp>
        <p:nvCxnSpPr>
          <p:cNvPr id="96" name="Google Shape;926;p74">
            <a:extLst>
              <a:ext uri="{FF2B5EF4-FFF2-40B4-BE49-F238E27FC236}">
                <a16:creationId xmlns:a16="http://schemas.microsoft.com/office/drawing/2014/main" id="{1D1C5310-2554-F9B2-4A45-301A54C3CC26}"/>
              </a:ext>
            </a:extLst>
          </p:cNvPr>
          <p:cNvCxnSpPr>
            <a:cxnSpLocks/>
            <a:endCxn id="94" idx="6"/>
          </p:cNvCxnSpPr>
          <p:nvPr/>
        </p:nvCxnSpPr>
        <p:spPr>
          <a:xfrm flipH="1">
            <a:off x="9296929" y="5983689"/>
            <a:ext cx="936370" cy="17867"/>
          </a:xfrm>
          <a:prstGeom prst="straightConnector1">
            <a:avLst/>
          </a:prstGeom>
          <a:noFill/>
          <a:ln w="28575" cap="flat" cmpd="sng">
            <a:solidFill>
              <a:srgbClr val="002060"/>
            </a:solidFill>
            <a:prstDash val="solid"/>
            <a:round/>
            <a:headEnd type="none" w="med" len="med"/>
            <a:tailEnd type="none" w="med" len="med"/>
          </a:ln>
        </p:spPr>
      </p:cxnSp>
      <p:cxnSp>
        <p:nvCxnSpPr>
          <p:cNvPr id="98" name="Google Shape;926;p74">
            <a:extLst>
              <a:ext uri="{FF2B5EF4-FFF2-40B4-BE49-F238E27FC236}">
                <a16:creationId xmlns:a16="http://schemas.microsoft.com/office/drawing/2014/main" id="{3E6529F1-E1B4-2749-499B-8930C219C9E6}"/>
              </a:ext>
            </a:extLst>
          </p:cNvPr>
          <p:cNvCxnSpPr>
            <a:cxnSpLocks/>
            <a:stCxn id="99" idx="2"/>
          </p:cNvCxnSpPr>
          <p:nvPr/>
        </p:nvCxnSpPr>
        <p:spPr>
          <a:xfrm flipH="1">
            <a:off x="10229644" y="5965822"/>
            <a:ext cx="4440395" cy="17867"/>
          </a:xfrm>
          <a:prstGeom prst="straightConnector1">
            <a:avLst/>
          </a:prstGeom>
          <a:noFill/>
          <a:ln w="28575" cap="flat" cmpd="sng">
            <a:solidFill>
              <a:srgbClr val="002060"/>
            </a:solidFill>
            <a:prstDash val="solid"/>
            <a:round/>
            <a:headEnd type="none" w="med" len="med"/>
            <a:tailEnd type="none" w="med" len="med"/>
          </a:ln>
        </p:spPr>
      </p:cxnSp>
      <p:sp>
        <p:nvSpPr>
          <p:cNvPr id="99" name="Google Shape;910;p74">
            <a:extLst>
              <a:ext uri="{FF2B5EF4-FFF2-40B4-BE49-F238E27FC236}">
                <a16:creationId xmlns:a16="http://schemas.microsoft.com/office/drawing/2014/main" id="{F4ABFC3A-21B8-4592-5D86-72A093A95A26}"/>
              </a:ext>
            </a:extLst>
          </p:cNvPr>
          <p:cNvSpPr/>
          <p:nvPr/>
        </p:nvSpPr>
        <p:spPr>
          <a:xfrm>
            <a:off x="14670039" y="5756055"/>
            <a:ext cx="428440" cy="419534"/>
          </a:xfrm>
          <a:prstGeom prst="ellipse">
            <a:avLst/>
          </a:prstGeom>
          <a:solidFill>
            <a:srgbClr val="92D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dirty="0">
              <a:solidFill>
                <a:schemeClr val="tx2">
                  <a:lumMod val="75000"/>
                </a:schemeClr>
              </a:solidFill>
              <a:highlight>
                <a:srgbClr val="FF0000"/>
              </a:highlight>
              <a:latin typeface="Cambria" panose="02040503050406030204" pitchFamily="18" charset="0"/>
              <a:ea typeface="Cambria" panose="02040503050406030204" pitchFamily="18" charset="0"/>
            </a:endParaRPr>
          </a:p>
        </p:txBody>
      </p:sp>
      <p:cxnSp>
        <p:nvCxnSpPr>
          <p:cNvPr id="106" name="Google Shape;927;p74">
            <a:extLst>
              <a:ext uri="{FF2B5EF4-FFF2-40B4-BE49-F238E27FC236}">
                <a16:creationId xmlns:a16="http://schemas.microsoft.com/office/drawing/2014/main" id="{1D8CD4C6-71B7-48E9-9F79-91945704B82A}"/>
              </a:ext>
            </a:extLst>
          </p:cNvPr>
          <p:cNvCxnSpPr>
            <a:cxnSpLocks/>
          </p:cNvCxnSpPr>
          <p:nvPr/>
        </p:nvCxnSpPr>
        <p:spPr>
          <a:xfrm flipH="1">
            <a:off x="9082709" y="6211323"/>
            <a:ext cx="16100" cy="1075139"/>
          </a:xfrm>
          <a:prstGeom prst="straightConnector1">
            <a:avLst/>
          </a:prstGeom>
          <a:noFill/>
          <a:ln w="28575" cap="flat" cmpd="sng">
            <a:solidFill>
              <a:srgbClr val="002060"/>
            </a:solidFill>
            <a:prstDash val="solid"/>
            <a:round/>
            <a:headEnd type="none" w="med" len="med"/>
            <a:tailEnd type="oval" w="med" len="med"/>
          </a:ln>
        </p:spPr>
      </p:cxnSp>
      <p:cxnSp>
        <p:nvCxnSpPr>
          <p:cNvPr id="108" name="Google Shape;927;p74">
            <a:extLst>
              <a:ext uri="{FF2B5EF4-FFF2-40B4-BE49-F238E27FC236}">
                <a16:creationId xmlns:a16="http://schemas.microsoft.com/office/drawing/2014/main" id="{CA6ADFB0-8573-DC16-7D6D-2F7FD65DAFE9}"/>
              </a:ext>
            </a:extLst>
          </p:cNvPr>
          <p:cNvCxnSpPr>
            <a:cxnSpLocks/>
          </p:cNvCxnSpPr>
          <p:nvPr/>
        </p:nvCxnSpPr>
        <p:spPr>
          <a:xfrm flipH="1" flipV="1">
            <a:off x="14851963" y="4617407"/>
            <a:ext cx="31794" cy="1175127"/>
          </a:xfrm>
          <a:prstGeom prst="straightConnector1">
            <a:avLst/>
          </a:prstGeom>
          <a:noFill/>
          <a:ln w="28575" cap="flat" cmpd="sng">
            <a:solidFill>
              <a:srgbClr val="002060"/>
            </a:solidFill>
            <a:prstDash val="solid"/>
            <a:round/>
            <a:headEnd type="none" w="med" len="med"/>
            <a:tailEnd type="oval" w="med" len="med"/>
          </a:ln>
        </p:spPr>
      </p:cxnSp>
      <p:sp>
        <p:nvSpPr>
          <p:cNvPr id="24" name="Oval 23">
            <a:extLst>
              <a:ext uri="{FF2B5EF4-FFF2-40B4-BE49-F238E27FC236}">
                <a16:creationId xmlns:a16="http://schemas.microsoft.com/office/drawing/2014/main" id="{986F6269-2158-E3E0-22B5-3327CAD023D1}"/>
              </a:ext>
            </a:extLst>
          </p:cNvPr>
          <p:cNvSpPr/>
          <p:nvPr/>
        </p:nvSpPr>
        <p:spPr>
          <a:xfrm>
            <a:off x="2184630" y="3543396"/>
            <a:ext cx="901218"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Cambria" panose="02040503050406030204" pitchFamily="18" charset="0"/>
                <a:ea typeface="Cambria" panose="02040503050406030204" pitchFamily="18" charset="0"/>
              </a:rPr>
              <a:t>1</a:t>
            </a:r>
          </a:p>
        </p:txBody>
      </p:sp>
      <p:sp>
        <p:nvSpPr>
          <p:cNvPr id="40" name="Oval 39">
            <a:extLst>
              <a:ext uri="{FF2B5EF4-FFF2-40B4-BE49-F238E27FC236}">
                <a16:creationId xmlns:a16="http://schemas.microsoft.com/office/drawing/2014/main" id="{AE4DA3F7-AC71-A149-B9F7-87CDD6DE812A}"/>
              </a:ext>
            </a:extLst>
          </p:cNvPr>
          <p:cNvSpPr/>
          <p:nvPr/>
        </p:nvSpPr>
        <p:spPr>
          <a:xfrm>
            <a:off x="8632100" y="7499510"/>
            <a:ext cx="901218"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Cambria" panose="02040503050406030204" pitchFamily="18" charset="0"/>
                <a:ea typeface="Cambria" panose="02040503050406030204" pitchFamily="18" charset="0"/>
              </a:rPr>
              <a:t>2</a:t>
            </a:r>
          </a:p>
        </p:txBody>
      </p:sp>
      <p:sp>
        <p:nvSpPr>
          <p:cNvPr id="41" name="Oval 40">
            <a:extLst>
              <a:ext uri="{FF2B5EF4-FFF2-40B4-BE49-F238E27FC236}">
                <a16:creationId xmlns:a16="http://schemas.microsoft.com/office/drawing/2014/main" id="{5A386DF6-C24F-A02A-2ACB-0AEB89330442}"/>
              </a:ext>
            </a:extLst>
          </p:cNvPr>
          <p:cNvSpPr/>
          <p:nvPr/>
        </p:nvSpPr>
        <p:spPr>
          <a:xfrm>
            <a:off x="14383918" y="3543396"/>
            <a:ext cx="901218"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Cambria" panose="02040503050406030204" pitchFamily="18" charset="0"/>
                <a:ea typeface="Cambria" panose="02040503050406030204" pitchFamily="18" charset="0"/>
              </a:rPr>
              <a:t>3</a:t>
            </a:r>
          </a:p>
        </p:txBody>
      </p:sp>
      <p:sp>
        <p:nvSpPr>
          <p:cNvPr id="44" name="TextBox 43">
            <a:extLst>
              <a:ext uri="{FF2B5EF4-FFF2-40B4-BE49-F238E27FC236}">
                <a16:creationId xmlns:a16="http://schemas.microsoft.com/office/drawing/2014/main" id="{4D4E4D44-CF0B-B910-4EF6-2EDAEFB4569D}"/>
              </a:ext>
            </a:extLst>
          </p:cNvPr>
          <p:cNvSpPr txBox="1"/>
          <p:nvPr/>
        </p:nvSpPr>
        <p:spPr>
          <a:xfrm>
            <a:off x="6828309" y="3914200"/>
            <a:ext cx="5066220" cy="2031325"/>
          </a:xfrm>
          <a:prstGeom prst="rect">
            <a:avLst/>
          </a:prstGeom>
          <a:noFill/>
        </p:spPr>
        <p:txBody>
          <a:bodyPr wrap="square" rtlCol="0">
            <a:spAutoFit/>
          </a:bodyPr>
          <a:lstStyle/>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Đa</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ngôn</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ngữ</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Tiếng</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Việt</a:t>
            </a:r>
            <a:r>
              <a:rPr lang="en-US" sz="2400" dirty="0">
                <a:solidFill>
                  <a:srgbClr val="404155"/>
                </a:solidFill>
                <a:latin typeface="Cambria" panose="02040503050406030204" pitchFamily="18" charset="0"/>
                <a:ea typeface="Cambria" panose="02040503050406030204" pitchFamily="18" charset="0"/>
                <a:cs typeface="Nobile" pitchFamily="34" charset="-120"/>
              </a:rPr>
              <a:t>, Anh)</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Đánh</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giá</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nhà</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hàng</a:t>
            </a:r>
            <a:r>
              <a:rPr lang="en-US" sz="2400" dirty="0">
                <a:solidFill>
                  <a:srgbClr val="404155"/>
                </a:solidFill>
                <a:latin typeface="Cambria" panose="02040503050406030204" pitchFamily="18" charset="0"/>
                <a:ea typeface="Cambria" panose="02040503050406030204" pitchFamily="18" charset="0"/>
                <a:cs typeface="Nobile" pitchFamily="34" charset="-120"/>
              </a:rPr>
              <a:t> &amp; </a:t>
            </a:r>
            <a:r>
              <a:rPr lang="en-US" sz="2400" dirty="0" err="1">
                <a:solidFill>
                  <a:srgbClr val="404155"/>
                </a:solidFill>
                <a:latin typeface="Cambria" panose="02040503050406030204" pitchFamily="18" charset="0"/>
                <a:ea typeface="Cambria" panose="02040503050406030204" pitchFamily="18" charset="0"/>
                <a:cs typeface="Nobile" pitchFamily="34" charset="-120"/>
              </a:rPr>
              <a:t>tài</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xế</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Mã</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giảm</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giá</a:t>
            </a:r>
            <a:r>
              <a:rPr lang="en-US" sz="2400" dirty="0">
                <a:solidFill>
                  <a:srgbClr val="404155"/>
                </a:solidFill>
                <a:latin typeface="Cambria" panose="02040503050406030204" pitchFamily="18" charset="0"/>
                <a:ea typeface="Cambria" panose="02040503050406030204" pitchFamily="18" charset="0"/>
                <a:cs typeface="Nobile" pitchFamily="34" charset="-120"/>
              </a:rPr>
              <a:t> / Voucher</a:t>
            </a:r>
            <a:endParaRPr lang="en-US" sz="2400" dirty="0">
              <a:latin typeface="Cambria" panose="02040503050406030204" pitchFamily="18" charset="0"/>
              <a:ea typeface="Cambria" panose="02040503050406030204" pitchFamily="18" charset="0"/>
            </a:endParaRPr>
          </a:p>
          <a:p>
            <a:endParaRPr lang="en-US" dirty="0"/>
          </a:p>
        </p:txBody>
      </p:sp>
      <p:sp>
        <p:nvSpPr>
          <p:cNvPr id="45" name="TextBox 44">
            <a:extLst>
              <a:ext uri="{FF2B5EF4-FFF2-40B4-BE49-F238E27FC236}">
                <a16:creationId xmlns:a16="http://schemas.microsoft.com/office/drawing/2014/main" id="{A2DCC56D-3C17-DA3E-E5E3-0D69A8F2FB34}"/>
              </a:ext>
            </a:extLst>
          </p:cNvPr>
          <p:cNvSpPr txBox="1"/>
          <p:nvPr/>
        </p:nvSpPr>
        <p:spPr>
          <a:xfrm>
            <a:off x="12963269" y="6353864"/>
            <a:ext cx="4217375" cy="2031325"/>
          </a:xfrm>
          <a:prstGeom prst="rect">
            <a:avLst/>
          </a:prstGeom>
          <a:noFill/>
        </p:spPr>
        <p:txBody>
          <a:bodyPr wrap="square" rtlCol="0">
            <a:spAutoFit/>
          </a:bodyPr>
          <a:lstStyle/>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Google Play &amp; App Store</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AI </a:t>
            </a:r>
            <a:r>
              <a:rPr lang="en-US" sz="2400" dirty="0" err="1">
                <a:solidFill>
                  <a:srgbClr val="404155"/>
                </a:solidFill>
                <a:latin typeface="Cambria" panose="02040503050406030204" pitchFamily="18" charset="0"/>
                <a:ea typeface="Cambria" panose="02040503050406030204" pitchFamily="18" charset="0"/>
                <a:cs typeface="Nobile" pitchFamily="34" charset="-120"/>
              </a:rPr>
              <a:t>gợi</a:t>
            </a:r>
            <a:r>
              <a:rPr lang="en-US" sz="2400" dirty="0">
                <a:solidFill>
                  <a:srgbClr val="404155"/>
                </a:solidFill>
                <a:latin typeface="Cambria" panose="02040503050406030204" pitchFamily="18" charset="0"/>
                <a:ea typeface="Cambria" panose="02040503050406030204" pitchFamily="18" charset="0"/>
                <a:cs typeface="Nobile" pitchFamily="34" charset="-120"/>
              </a:rPr>
              <a:t> ý </a:t>
            </a:r>
            <a:r>
              <a:rPr lang="en-US" sz="2400" dirty="0" err="1">
                <a:solidFill>
                  <a:srgbClr val="404155"/>
                </a:solidFill>
                <a:latin typeface="Cambria" panose="02040503050406030204" pitchFamily="18" charset="0"/>
                <a:ea typeface="Cambria" panose="02040503050406030204" pitchFamily="18" charset="0"/>
                <a:cs typeface="Nobile" pitchFamily="34" charset="-120"/>
              </a:rPr>
              <a:t>món</a:t>
            </a:r>
            <a:r>
              <a:rPr lang="en-US" sz="2400" dirty="0">
                <a:solidFill>
                  <a:srgbClr val="404155"/>
                </a:solidFill>
                <a:latin typeface="Cambria" panose="02040503050406030204" pitchFamily="18" charset="0"/>
                <a:ea typeface="Cambria" panose="02040503050406030204" pitchFamily="18" charset="0"/>
                <a:cs typeface="Nobile" pitchFamily="34" charset="-120"/>
              </a:rPr>
              <a:t> </a:t>
            </a:r>
            <a:r>
              <a:rPr lang="en-US" sz="2400" dirty="0" err="1">
                <a:solidFill>
                  <a:srgbClr val="404155"/>
                </a:solidFill>
                <a:latin typeface="Cambria" panose="02040503050406030204" pitchFamily="18" charset="0"/>
                <a:ea typeface="Cambria" panose="02040503050406030204" pitchFamily="18" charset="0"/>
                <a:cs typeface="Nobile" pitchFamily="34" charset="-120"/>
              </a:rPr>
              <a:t>ăn</a:t>
            </a:r>
            <a:endParaRPr lang="en-US" sz="2400" dirty="0">
              <a:latin typeface="Cambria" panose="02040503050406030204" pitchFamily="18" charset="0"/>
              <a:ea typeface="Cambria" panose="02040503050406030204" pitchFamily="18" charset="0"/>
            </a:endParaRPr>
          </a:p>
          <a:p>
            <a:pPr algn="l">
              <a:lnSpc>
                <a:spcPct val="150000"/>
              </a:lnSpc>
              <a:buSzPct val="100000"/>
            </a:pPr>
            <a:r>
              <a:rPr lang="en-US" sz="2400" dirty="0">
                <a:solidFill>
                  <a:srgbClr val="000000"/>
                </a:solidFill>
                <a:latin typeface="Cambria" panose="02040503050406030204" pitchFamily="18" charset="0"/>
                <a:ea typeface="Cambria" panose="02040503050406030204" pitchFamily="18" charset="0"/>
                <a:cs typeface="Nobile" pitchFamily="34" charset="-120"/>
              </a:rPr>
              <a:t>🛡️</a:t>
            </a:r>
            <a:r>
              <a:rPr lang="en-US" sz="2400" dirty="0">
                <a:solidFill>
                  <a:srgbClr val="404155"/>
                </a:solidFill>
                <a:latin typeface="Cambria" panose="02040503050406030204" pitchFamily="18" charset="0"/>
                <a:ea typeface="Cambria" panose="02040503050406030204" pitchFamily="18" charset="0"/>
                <a:cs typeface="Nobile" pitchFamily="34" charset="-120"/>
              </a:rPr>
              <a:t> Dashboard Admin</a:t>
            </a:r>
            <a:endParaRPr lang="en-US" sz="2400" dirty="0">
              <a:latin typeface="Cambria" panose="02040503050406030204" pitchFamily="18" charset="0"/>
              <a:ea typeface="Cambria" panose="02040503050406030204" pitchFamily="18" charset="0"/>
            </a:endParaRPr>
          </a:p>
          <a:p>
            <a:endParaRPr lang="en-US" dirty="0"/>
          </a:p>
        </p:txBody>
      </p:sp>
      <p:sp>
        <p:nvSpPr>
          <p:cNvPr id="46" name="Google Shape;915;p74">
            <a:extLst>
              <a:ext uri="{FF2B5EF4-FFF2-40B4-BE49-F238E27FC236}">
                <a16:creationId xmlns:a16="http://schemas.microsoft.com/office/drawing/2014/main" id="{9BF75188-F8DA-CE74-A351-26F08BDE008D}"/>
              </a:ext>
            </a:extLst>
          </p:cNvPr>
          <p:cNvSpPr txBox="1"/>
          <p:nvPr/>
        </p:nvSpPr>
        <p:spPr>
          <a:xfrm>
            <a:off x="2805964" y="3502593"/>
            <a:ext cx="2464514" cy="920787"/>
          </a:xfrm>
          <a:prstGeom prst="rect">
            <a:avLst/>
          </a:prstGeom>
          <a:noFill/>
          <a:ln>
            <a:noFill/>
          </a:ln>
        </p:spPr>
        <p:txBody>
          <a:bodyPr spcFirstLastPara="1" wrap="square" lIns="0" tIns="0" rIns="0" bIns="0" anchor="ctr" anchorCtr="0">
            <a:noAutofit/>
          </a:bodyPr>
          <a:lstStyle/>
          <a:p>
            <a:pPr algn="ctr"/>
            <a:r>
              <a:rPr lang="en-US" sz="2800" b="1" dirty="0" err="1">
                <a:solidFill>
                  <a:schemeClr val="tx2">
                    <a:lumMod val="75000"/>
                  </a:schemeClr>
                </a:solidFill>
                <a:latin typeface="Cambria" panose="02040503050406030204" pitchFamily="18" charset="0"/>
                <a:ea typeface="Cambria" panose="02040503050406030204" pitchFamily="18" charset="0"/>
                <a:cs typeface="Calibri" pitchFamily="34" charset="-120"/>
              </a:rPr>
              <a:t>Ngắn</a:t>
            </a:r>
            <a:r>
              <a:rPr lang="en-US" sz="2800" b="1" dirty="0">
                <a:solidFill>
                  <a:schemeClr val="tx2">
                    <a:lumMod val="75000"/>
                  </a:schemeClr>
                </a:solidFill>
                <a:latin typeface="Cambria" panose="02040503050406030204" pitchFamily="18" charset="0"/>
                <a:ea typeface="Cambria" panose="02040503050406030204" pitchFamily="18" charset="0"/>
                <a:cs typeface="Calibri" pitchFamily="34" charset="-120"/>
              </a:rPr>
              <a:t> </a:t>
            </a:r>
            <a:r>
              <a:rPr lang="en-US" sz="2800" b="1" dirty="0" err="1">
                <a:solidFill>
                  <a:schemeClr val="tx2">
                    <a:lumMod val="75000"/>
                  </a:schemeClr>
                </a:solidFill>
                <a:latin typeface="Cambria" panose="02040503050406030204" pitchFamily="18" charset="0"/>
                <a:ea typeface="Cambria" panose="02040503050406030204" pitchFamily="18" charset="0"/>
                <a:cs typeface="Calibri" pitchFamily="34" charset="-120"/>
              </a:rPr>
              <a:t>hạn</a:t>
            </a:r>
            <a:endParaRPr lang="en-US" sz="2800" b="1" dirty="0">
              <a:solidFill>
                <a:schemeClr val="tx2">
                  <a:lumMod val="75000"/>
                </a:schemeClr>
              </a:solidFill>
              <a:latin typeface="Cambria" panose="02040503050406030204" pitchFamily="18" charset="0"/>
              <a:ea typeface="Cambria" panose="02040503050406030204" pitchFamily="18" charset="0"/>
            </a:endParaRPr>
          </a:p>
        </p:txBody>
      </p:sp>
      <p:grpSp>
        <p:nvGrpSpPr>
          <p:cNvPr id="4" name="Group 3">
            <a:extLst>
              <a:ext uri="{FF2B5EF4-FFF2-40B4-BE49-F238E27FC236}">
                <a16:creationId xmlns:a16="http://schemas.microsoft.com/office/drawing/2014/main" id="{CB403121-E386-AE83-0149-0F88B886EB9B}"/>
              </a:ext>
            </a:extLst>
          </p:cNvPr>
          <p:cNvGrpSpPr/>
          <p:nvPr/>
        </p:nvGrpSpPr>
        <p:grpSpPr>
          <a:xfrm>
            <a:off x="1127553" y="1790700"/>
            <a:ext cx="853655" cy="972116"/>
            <a:chOff x="0" y="-205478"/>
            <a:chExt cx="1371600" cy="1615178"/>
          </a:xfrm>
        </p:grpSpPr>
        <p:sp>
          <p:nvSpPr>
            <p:cNvPr id="5" name="Freeform 4">
              <a:extLst>
                <a:ext uri="{FF2B5EF4-FFF2-40B4-BE49-F238E27FC236}">
                  <a16:creationId xmlns:a16="http://schemas.microsoft.com/office/drawing/2014/main" id="{E76DF2D9-DBE4-03DA-F52A-E4441543846C}"/>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sz="4800"/>
            </a:p>
          </p:txBody>
        </p:sp>
        <p:sp>
          <p:nvSpPr>
            <p:cNvPr id="6" name="TextBox 5">
              <a:extLst>
                <a:ext uri="{FF2B5EF4-FFF2-40B4-BE49-F238E27FC236}">
                  <a16:creationId xmlns:a16="http://schemas.microsoft.com/office/drawing/2014/main" id="{D71B3478-599F-C4A7-3CD5-66A697C802BB}"/>
                </a:ext>
              </a:extLst>
            </p:cNvPr>
            <p:cNvSpPr txBox="1"/>
            <p:nvPr/>
          </p:nvSpPr>
          <p:spPr>
            <a:xfrm>
              <a:off x="76" y="-205478"/>
              <a:ext cx="1371524" cy="1428709"/>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400" b="1" dirty="0">
                  <a:solidFill>
                    <a:srgbClr val="FFFFFF"/>
                  </a:solidFill>
                  <a:latin typeface="Cambria" panose="02040503050406030204" pitchFamily="18" charset="0"/>
                  <a:ea typeface="Cambria" panose="02040503050406030204" pitchFamily="18" charset="0"/>
                  <a:cs typeface="Cambria Bold"/>
                  <a:sym typeface="Cambria Bold"/>
                </a:rPr>
                <a:t>4</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p:cNvSpPr txBox="1"/>
          <p:nvPr/>
        </p:nvSpPr>
        <p:spPr>
          <a:xfrm>
            <a:off x="2701676" y="4040634"/>
            <a:ext cx="12884647" cy="1102866"/>
          </a:xfrm>
          <a:prstGeom prst="rect">
            <a:avLst/>
          </a:prstGeom>
        </p:spPr>
        <p:txBody>
          <a:bodyPr wrap="square" lIns="0" tIns="0" rIns="0" bIns="0" rtlCol="0" anchor="t">
            <a:spAutoFit/>
          </a:bodyPr>
          <a:lstStyle/>
          <a:p>
            <a:pPr algn="ctr">
              <a:lnSpc>
                <a:spcPts val="8640"/>
              </a:lnSpc>
            </a:pPr>
            <a:r>
              <a:rPr lang="en-US" sz="7200" b="1">
                <a:solidFill>
                  <a:srgbClr val="16458C"/>
                </a:solidFill>
                <a:latin typeface="Cambria" panose="02040503050406030204" pitchFamily="18" charset="0"/>
                <a:ea typeface="Cambria" panose="02040503050406030204" pitchFamily="18" charset="0"/>
                <a:cs typeface="Cambria Bold"/>
                <a:sym typeface="Cambria Bold"/>
              </a:rPr>
              <a:t>EM XIN TRÂN TRỌNG CẢM ƠN</a:t>
            </a:r>
            <a:endParaRPr lang="en-US" sz="7200" b="1" dirty="0">
              <a:solidFill>
                <a:srgbClr val="FCB618"/>
              </a:solidFill>
              <a:latin typeface="Cambria" panose="02040503050406030204" pitchFamily="18" charset="0"/>
              <a:ea typeface="Cambria" panose="02040503050406030204" pitchFamily="18" charset="0"/>
              <a:cs typeface="Cambria Bold"/>
              <a:sym typeface="Cambria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3003</TotalTime>
  <Words>2641</Words>
  <Application>Microsoft Macintosh PowerPoint</Application>
  <PresentationFormat>Custom</PresentationFormat>
  <Paragraphs>197</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Cambria</vt:lpstr>
      <vt:lpstr>Times New Roman</vt:lpstr>
      <vt:lpstr>Calibri</vt:lpstr>
      <vt:lpstr>-webkit-standard</vt:lpstr>
      <vt:lpstr>Wingdings</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Là người có quyền tương tác với hệ thống, có quyền điều khiển, kiểm soát các hoạt động của hệ thống. Với các chức năng quản lý Thông tin tài khoản, quản lý thông tin sản phẩm, quản lý đơn hàng,…</dc:title>
  <dc:creator>Ha Vu</dc:creator>
  <cp:lastModifiedBy>Nguyễn An</cp:lastModifiedBy>
  <cp:revision>28</cp:revision>
  <dcterms:created xsi:type="dcterms:W3CDTF">2006-08-16T00:00:00Z</dcterms:created>
  <dcterms:modified xsi:type="dcterms:W3CDTF">2026-05-15T15:00:22Z</dcterms:modified>
  <dc:identifier>DAG6Rx4WiKg</dc:identifier>
</cp:coreProperties>
</file>